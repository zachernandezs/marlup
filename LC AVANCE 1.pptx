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embeddedFontLst>
    <p:embeddedFont>
      <p:font typeface="Amiko" panose="020B0604020202020204" charset="0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52Zeop5x/teDvi5nnr/CiukIV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9" d="100"/>
          <a:sy n="59" d="100"/>
        </p:scale>
        <p:origin x="123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Jorge</a:t>
            </a:r>
            <a:endParaRPr/>
          </a:p>
        </p:txBody>
      </p:sp>
      <p:sp>
        <p:nvSpPr>
          <p:cNvPr id="45" name="Google Shape;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Jorge</a:t>
            </a:r>
            <a:endParaRPr/>
          </a:p>
        </p:txBody>
      </p:sp>
      <p:sp>
        <p:nvSpPr>
          <p:cNvPr id="61" name="Google Shape;6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Kaleb</a:t>
            </a:r>
            <a:endParaRPr/>
          </a:p>
        </p:txBody>
      </p:sp>
      <p:sp>
        <p:nvSpPr>
          <p:cNvPr id="187" name="Google Shape;18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Jorge</a:t>
            </a:r>
            <a:endParaRPr/>
          </a:p>
        </p:txBody>
      </p:sp>
      <p:sp>
        <p:nvSpPr>
          <p:cNvPr id="221" name="Google Shape;22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Kaleb</a:t>
            </a:r>
            <a:endParaRPr/>
          </a:p>
        </p:txBody>
      </p:sp>
      <p:sp>
        <p:nvSpPr>
          <p:cNvPr id="261" name="Google Shape;26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Kaleb</a:t>
            </a:r>
            <a:endParaRPr/>
          </a:p>
        </p:txBody>
      </p:sp>
      <p:sp>
        <p:nvSpPr>
          <p:cNvPr id="275" name="Google Shape;27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a1d52982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3fa1d52982f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Kaleb</a:t>
            </a:r>
            <a:endParaRPr/>
          </a:p>
        </p:txBody>
      </p:sp>
      <p:sp>
        <p:nvSpPr>
          <p:cNvPr id="301" name="Google Shape;301;g3fa1d52982f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a1d52982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3fa1d52982f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Kaleb</a:t>
            </a:r>
            <a:endParaRPr/>
          </a:p>
        </p:txBody>
      </p:sp>
      <p:sp>
        <p:nvSpPr>
          <p:cNvPr id="316" name="Google Shape;316;g3fa1d52982f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Alvaro</a:t>
            </a:r>
            <a:endParaRPr/>
          </a:p>
        </p:txBody>
      </p:sp>
      <p:sp>
        <p:nvSpPr>
          <p:cNvPr id="330" name="Google Shape;33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4046" algn="l" rtl="0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7155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–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3246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–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»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3246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3246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4046" algn="l" rtl="0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7155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–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3246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–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»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3246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3246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jp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jpg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2.jp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0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0.pn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.pn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10.png"/><Relationship Id="rId4" Type="http://schemas.openxmlformats.org/officeDocument/2006/relationships/image" Target="../media/image2.jpg"/><Relationship Id="rId9" Type="http://schemas.openxmlformats.org/officeDocument/2006/relationships/image" Target="../media/image2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052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/>
          <p:nvPr/>
        </p:nvSpPr>
        <p:spPr>
          <a:xfrm>
            <a:off x="7461762" y="3925121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1"/>
          <p:cNvGrpSpPr/>
          <p:nvPr/>
        </p:nvGrpSpPr>
        <p:grpSpPr>
          <a:xfrm>
            <a:off x="-2201356" y="6386175"/>
            <a:ext cx="16048418" cy="2153837"/>
            <a:chOff x="0" y="-38100"/>
            <a:chExt cx="6340116" cy="850900"/>
          </a:xfrm>
        </p:grpSpPr>
        <p:sp>
          <p:nvSpPr>
            <p:cNvPr id="35" name="Google Shape;35;p1"/>
            <p:cNvSpPr/>
            <p:nvPr/>
          </p:nvSpPr>
          <p:spPr>
            <a:xfrm>
              <a:off x="0" y="0"/>
              <a:ext cx="6340116" cy="165861"/>
            </a:xfrm>
            <a:custGeom>
              <a:avLst/>
              <a:gdLst/>
              <a:ahLst/>
              <a:cxnLst/>
              <a:rect l="l" t="t" r="r" b="b"/>
              <a:pathLst>
                <a:path w="6340116" h="165861" extrusionOk="0">
                  <a:moveTo>
                    <a:pt x="0" y="0"/>
                  </a:moveTo>
                  <a:lnTo>
                    <a:pt x="6340116" y="0"/>
                  </a:lnTo>
                  <a:lnTo>
                    <a:pt x="6340116" y="165861"/>
                  </a:lnTo>
                  <a:lnTo>
                    <a:pt x="0" y="1658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" name="Google Shape;37;p1"/>
          <p:cNvSpPr/>
          <p:nvPr/>
        </p:nvSpPr>
        <p:spPr>
          <a:xfrm>
            <a:off x="10287121" y="6482616"/>
            <a:ext cx="1597285" cy="384743"/>
          </a:xfrm>
          <a:custGeom>
            <a:avLst/>
            <a:gdLst/>
            <a:ahLst/>
            <a:cxnLst/>
            <a:rect l="l" t="t" r="r" b="b"/>
            <a:pathLst>
              <a:path w="2395928" h="577115" extrusionOk="0">
                <a:moveTo>
                  <a:pt x="0" y="0"/>
                </a:moveTo>
                <a:lnTo>
                  <a:pt x="2395928" y="0"/>
                </a:lnTo>
                <a:lnTo>
                  <a:pt x="2395928" y="577115"/>
                </a:lnTo>
                <a:lnTo>
                  <a:pt x="0" y="577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56993" b="-15816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977692" y="1254311"/>
            <a:ext cx="3665625" cy="3672970"/>
          </a:xfrm>
          <a:custGeom>
            <a:avLst/>
            <a:gdLst/>
            <a:ahLst/>
            <a:cxnLst/>
            <a:rect l="l" t="t" r="r" b="b"/>
            <a:pathLst>
              <a:path w="3174540" h="3180901" extrusionOk="0">
                <a:moveTo>
                  <a:pt x="0" y="0"/>
                </a:moveTo>
                <a:lnTo>
                  <a:pt x="3174540" y="0"/>
                </a:lnTo>
                <a:lnTo>
                  <a:pt x="3174540" y="3180901"/>
                </a:lnTo>
                <a:lnTo>
                  <a:pt x="0" y="3180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502920" y="427871"/>
            <a:ext cx="5504267" cy="2944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95" b="0" i="0" u="none" strike="noStrike" cap="none">
                <a:solidFill>
                  <a:srgbClr val="F0F9FA"/>
                </a:solidFill>
                <a:latin typeface="Arial"/>
                <a:ea typeface="Arial"/>
                <a:cs typeface="Arial"/>
                <a:sym typeface="Arial"/>
              </a:rPr>
              <a:t>MARLUP PROJECT</a:t>
            </a:r>
            <a:endParaRPr/>
          </a:p>
        </p:txBody>
      </p:sp>
      <p:sp>
        <p:nvSpPr>
          <p:cNvPr id="40" name="Google Shape;40;p1"/>
          <p:cNvSpPr txBox="1"/>
          <p:nvPr/>
        </p:nvSpPr>
        <p:spPr>
          <a:xfrm>
            <a:off x="609601" y="1801258"/>
            <a:ext cx="3299379" cy="36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5" b="0" i="0" u="none" strike="noStrike" cap="none">
                <a:solidFill>
                  <a:srgbClr val="F0F9FA"/>
                </a:solidFill>
                <a:latin typeface="Arial"/>
                <a:ea typeface="Arial"/>
                <a:cs typeface="Arial"/>
                <a:sym typeface="Arial"/>
              </a:rPr>
              <a:t>AD ASTRA IN MARIS</a:t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502920" y="3621938"/>
            <a:ext cx="4944600" cy="16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4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 y gemelo digital de una Plataforma de lanzamiento </a:t>
            </a:r>
            <a:r>
              <a:rPr lang="en-US" sz="2334">
                <a:solidFill>
                  <a:srgbClr val="FFFFFF"/>
                </a:solidFill>
              </a:rPr>
              <a:t>marítima</a:t>
            </a:r>
            <a:r>
              <a:rPr lang="en-US" sz="2334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para operaciones de cohetes pequeños</a:t>
            </a:r>
            <a:endParaRPr sz="2334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/>
          <p:nvPr/>
        </p:nvSpPr>
        <p:spPr>
          <a:xfrm rot="-8071618">
            <a:off x="-1752848" y="-438609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" name="Google Shape;48;p2"/>
          <p:cNvGrpSpPr/>
          <p:nvPr/>
        </p:nvGrpSpPr>
        <p:grpSpPr>
          <a:xfrm>
            <a:off x="-1928714" y="6344231"/>
            <a:ext cx="16048418" cy="2153837"/>
            <a:chOff x="0" y="-192881"/>
            <a:chExt cx="32096836" cy="4307669"/>
          </a:xfrm>
        </p:grpSpPr>
        <p:grpSp>
          <p:nvGrpSpPr>
            <p:cNvPr id="49" name="Google Shape;49;p2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" name="Google Shape;52;p2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2"/>
          <p:cNvSpPr/>
          <p:nvPr/>
        </p:nvSpPr>
        <p:spPr>
          <a:xfrm rot="-4637478">
            <a:off x="6941927" y="2560973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7100000" y="1750000"/>
            <a:ext cx="45500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QUE HOY SE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PUEDE PROBAR</a:t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7100000" y="3350000"/>
            <a:ext cx="4550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Cohetería de baja potencia</a:t>
            </a:r>
            <a:endParaRPr sz="1600" b="1" i="0" u="none" strike="noStrike" cap="none">
              <a:solidFill>
                <a:srgbClr val="FFFFFF"/>
              </a:solidFill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7100000" y="5450000"/>
            <a:ext cx="455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A8C4DC"/>
                </a:solidFill>
                <a:latin typeface="Amiko"/>
                <a:ea typeface="Amiko"/>
                <a:cs typeface="Amiko"/>
                <a:sym typeface="Amiko"/>
              </a:rPr>
              <a:t>Video: Asociación Costarricense de Cohetería</a:t>
            </a:r>
            <a:endParaRPr/>
          </a:p>
        </p:txBody>
      </p:sp>
      <p:pic>
        <p:nvPicPr>
          <p:cNvPr id="13" name="WhatsApp Video 2026-08-17 at 10.40.41 AM">
            <a:hlinkClick r:id="" action="ppaction://media"/>
            <a:extLst>
              <a:ext uri="{FF2B5EF4-FFF2-40B4-BE49-F238E27FC236}">
                <a16:creationId xmlns:a16="http://schemas.microsoft.com/office/drawing/2014/main" id="{7AA43199-F919-4D78-8067-3228211D88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7"/>
          <a:srcRect t="-202"/>
          <a:stretch/>
        </p:blipFill>
        <p:spPr>
          <a:xfrm>
            <a:off x="842760" y="-3529789"/>
            <a:ext cx="5597022" cy="9970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67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 rot="-8071618">
            <a:off x="-1752848" y="-438609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" name="Google Shape;64;p3"/>
          <p:cNvGrpSpPr/>
          <p:nvPr/>
        </p:nvGrpSpPr>
        <p:grpSpPr>
          <a:xfrm>
            <a:off x="-1928714" y="6344231"/>
            <a:ext cx="16048418" cy="2153837"/>
            <a:chOff x="0" y="-192881"/>
            <a:chExt cx="32096836" cy="4307669"/>
          </a:xfrm>
        </p:grpSpPr>
        <p:grpSp>
          <p:nvGrpSpPr>
            <p:cNvPr id="65" name="Google Shape;65;p3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66" name="Google Shape;66;p3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3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" name="Google Shape;68;p3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" name="Google Shape;69;p3"/>
          <p:cNvSpPr/>
          <p:nvPr/>
        </p:nvSpPr>
        <p:spPr>
          <a:xfrm rot="-4637478">
            <a:off x="6941927" y="2560973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7">
            <a:alphaModFix/>
          </a:blip>
          <a:srcRect l="20659" t="12613" r="2526" b="8922"/>
          <a:stretch/>
        </p:blipFill>
        <p:spPr>
          <a:xfrm>
            <a:off x="7913586" y="429789"/>
            <a:ext cx="1980188" cy="26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8">
            <a:alphaModFix/>
          </a:blip>
          <a:srcRect l="25703" t="10210" r="24430" b="13586"/>
          <a:stretch/>
        </p:blipFill>
        <p:spPr>
          <a:xfrm>
            <a:off x="10013052" y="417103"/>
            <a:ext cx="1336101" cy="2722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9">
            <a:alphaModFix/>
          </a:blip>
          <a:srcRect t="17651" b="3080"/>
          <a:stretch/>
        </p:blipFill>
        <p:spPr>
          <a:xfrm>
            <a:off x="7913586" y="3276600"/>
            <a:ext cx="2484288" cy="262569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 txBox="1"/>
          <p:nvPr/>
        </p:nvSpPr>
        <p:spPr>
          <a:xfrm>
            <a:off x="556714" y="330000"/>
            <a:ext cx="7000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QUE YA SE PUEDE CONSTRUIR</a:t>
            </a:r>
            <a:endParaRPr/>
          </a:p>
        </p:txBody>
      </p:sp>
      <p:sp>
        <p:nvSpPr>
          <p:cNvPr id="76" name="Google Shape;76;p3"/>
          <p:cNvSpPr txBox="1"/>
          <p:nvPr/>
        </p:nvSpPr>
        <p:spPr>
          <a:xfrm>
            <a:off x="556714" y="5420000"/>
            <a:ext cx="691719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Encendido estático de un motor mucho más potente, en el mismo evento. La capacidad existe; el sitio donde probarla, no.</a:t>
            </a:r>
            <a:endParaRPr/>
          </a:p>
        </p:txBody>
      </p:sp>
      <p:pic>
        <p:nvPicPr>
          <p:cNvPr id="16" name="WhatsApp Video 2026-08-17 at 10.40.39 AM">
            <a:hlinkClick r:id="" action="ppaction://media"/>
            <a:extLst>
              <a:ext uri="{FF2B5EF4-FFF2-40B4-BE49-F238E27FC236}">
                <a16:creationId xmlns:a16="http://schemas.microsoft.com/office/drawing/2014/main" id="{8E072F31-B034-4414-9019-F75B77B09DEA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7517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56714" y="1331140"/>
            <a:ext cx="6917191" cy="3890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2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5"/>
          <p:cNvGrpSpPr/>
          <p:nvPr/>
        </p:nvGrpSpPr>
        <p:grpSpPr>
          <a:xfrm>
            <a:off x="2448296" y="-86628"/>
            <a:ext cx="9753600" cy="7142239"/>
            <a:chOff x="0" y="-38100"/>
            <a:chExt cx="4033708" cy="2819191"/>
          </a:xfrm>
        </p:grpSpPr>
        <p:sp>
          <p:nvSpPr>
            <p:cNvPr id="82" name="Google Shape;82;p5"/>
            <p:cNvSpPr/>
            <p:nvPr/>
          </p:nvSpPr>
          <p:spPr>
            <a:xfrm>
              <a:off x="0" y="0"/>
              <a:ext cx="4033708" cy="2781091"/>
            </a:xfrm>
            <a:custGeom>
              <a:avLst/>
              <a:gdLst/>
              <a:ahLst/>
              <a:cxnLst/>
              <a:rect l="l" t="t" r="r" b="b"/>
              <a:pathLst>
                <a:path w="4033708" h="2781091" extrusionOk="0">
                  <a:moveTo>
                    <a:pt x="0" y="0"/>
                  </a:moveTo>
                  <a:lnTo>
                    <a:pt x="4033708" y="0"/>
                  </a:lnTo>
                  <a:lnTo>
                    <a:pt x="4033708" y="2781091"/>
                  </a:lnTo>
                  <a:lnTo>
                    <a:pt x="0" y="27810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" name="Google Shape;84;p5"/>
          <p:cNvSpPr/>
          <p:nvPr/>
        </p:nvSpPr>
        <p:spPr>
          <a:xfrm>
            <a:off x="7608230" y="5262919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 rot="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 rot="-2625670">
            <a:off x="231709" y="378865"/>
            <a:ext cx="694823" cy="738191"/>
          </a:xfrm>
          <a:custGeom>
            <a:avLst/>
            <a:gdLst/>
            <a:ahLst/>
            <a:cxnLst/>
            <a:rect l="l" t="t" r="r" b="b"/>
            <a:pathLst>
              <a:path w="1042234" h="1107287" extrusionOk="0">
                <a:moveTo>
                  <a:pt x="0" y="0"/>
                </a:moveTo>
                <a:lnTo>
                  <a:pt x="1042234" y="0"/>
                </a:lnTo>
                <a:lnTo>
                  <a:pt x="1042234" y="1107287"/>
                </a:lnTo>
                <a:lnTo>
                  <a:pt x="0" y="1107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5"/>
          <p:cNvGrpSpPr/>
          <p:nvPr/>
        </p:nvGrpSpPr>
        <p:grpSpPr>
          <a:xfrm>
            <a:off x="-844464" y="6236069"/>
            <a:ext cx="13036463" cy="3352383"/>
            <a:chOff x="0" y="-38100"/>
            <a:chExt cx="5593794" cy="850900"/>
          </a:xfrm>
        </p:grpSpPr>
        <p:sp>
          <p:nvSpPr>
            <p:cNvPr id="88" name="Google Shape;88;p5"/>
            <p:cNvSpPr/>
            <p:nvPr/>
          </p:nvSpPr>
          <p:spPr>
            <a:xfrm>
              <a:off x="1408638" y="0"/>
              <a:ext cx="4185156" cy="165861"/>
            </a:xfrm>
            <a:custGeom>
              <a:avLst/>
              <a:gdLst/>
              <a:ahLst/>
              <a:cxnLst/>
              <a:rect l="l" t="t" r="r" b="b"/>
              <a:pathLst>
                <a:path w="6340116" h="165861" extrusionOk="0">
                  <a:moveTo>
                    <a:pt x="0" y="0"/>
                  </a:moveTo>
                  <a:lnTo>
                    <a:pt x="6340116" y="0"/>
                  </a:lnTo>
                  <a:lnTo>
                    <a:pt x="6340116" y="165861"/>
                  </a:lnTo>
                  <a:lnTo>
                    <a:pt x="0" y="1658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5"/>
          <p:cNvSpPr txBox="1"/>
          <p:nvPr/>
        </p:nvSpPr>
        <p:spPr>
          <a:xfrm>
            <a:off x="233592" y="4470568"/>
            <a:ext cx="1683947" cy="8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¿Desde </a:t>
            </a:r>
            <a:endParaRPr/>
          </a:p>
          <a:p>
            <a:pPr marL="0" marR="0" lvl="0" indent="0" algn="ctr" rtl="0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Tierra?</a:t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2489476" y="2509139"/>
            <a:ext cx="3837600" cy="15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09303" marR="0" lvl="1" indent="-204652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2D59"/>
              </a:buClr>
              <a:buSzPts val="1895"/>
              <a:buFont typeface="Arial"/>
              <a:buChar char="•"/>
            </a:pPr>
            <a:r>
              <a:rPr lang="en-US" sz="1895" b="1" i="0" u="none" strike="noStrike" cap="none">
                <a:solidFill>
                  <a:srgbClr val="032D59"/>
                </a:solidFill>
                <a:latin typeface="Amiko"/>
                <a:ea typeface="Amiko"/>
                <a:cs typeface="Amiko"/>
                <a:sym typeface="Amiko"/>
              </a:rPr>
              <a:t>Zonas aéreas restringida </a:t>
            </a:r>
            <a:endParaRPr/>
          </a:p>
          <a:p>
            <a:pPr marL="409303" marR="0" lvl="1" indent="-204652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2D59"/>
              </a:buClr>
              <a:buSzPts val="1895"/>
              <a:buFont typeface="Arial"/>
              <a:buChar char="•"/>
            </a:pPr>
            <a:r>
              <a:rPr lang="en-US" sz="1895" b="1" i="0" u="none" strike="noStrike" cap="none">
                <a:solidFill>
                  <a:srgbClr val="032D59"/>
                </a:solidFill>
                <a:latin typeface="Amiko"/>
                <a:ea typeface="Amiko"/>
                <a:cs typeface="Amiko"/>
                <a:sym typeface="Amiko"/>
              </a:rPr>
              <a:t>≈26% de la superficie </a:t>
            </a:r>
            <a:r>
              <a:rPr lang="en-US" sz="1895" b="1">
                <a:solidFill>
                  <a:srgbClr val="032D59"/>
                </a:solidFill>
                <a:latin typeface="Amiko"/>
                <a:ea typeface="Amiko"/>
                <a:cs typeface="Amiko"/>
                <a:sym typeface="Amiko"/>
              </a:rPr>
              <a:t>terrestre</a:t>
            </a:r>
            <a:r>
              <a:rPr lang="en-US" sz="1895" b="1" i="0" u="none" strike="noStrike" cap="none">
                <a:solidFill>
                  <a:srgbClr val="032D59"/>
                </a:solidFill>
                <a:latin typeface="Amiko"/>
                <a:ea typeface="Amiko"/>
                <a:cs typeface="Amiko"/>
                <a:sym typeface="Amiko"/>
              </a:rPr>
              <a:t> es area silvestre protegida. [4]</a:t>
            </a:r>
            <a:endParaRPr/>
          </a:p>
        </p:txBody>
      </p:sp>
      <p:pic>
        <p:nvPicPr>
          <p:cNvPr id="92" name="Google Shape;92;p5" descr="Mapa&#10;&#10;Descripción generada automá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3428" y="481491"/>
            <a:ext cx="5350845" cy="58639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5"/>
          <p:cNvGrpSpPr/>
          <p:nvPr/>
        </p:nvGrpSpPr>
        <p:grpSpPr>
          <a:xfrm>
            <a:off x="-2201356" y="6386175"/>
            <a:ext cx="16048418" cy="2153835"/>
            <a:chOff x="0" y="-192881"/>
            <a:chExt cx="32096836" cy="4307669"/>
          </a:xfrm>
        </p:grpSpPr>
        <p:grpSp>
          <p:nvGrpSpPr>
            <p:cNvPr id="94" name="Google Shape;94;p5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95" name="Google Shape;95;p5"/>
              <p:cNvSpPr/>
              <p:nvPr/>
            </p:nvSpPr>
            <p:spPr>
              <a:xfrm>
                <a:off x="1838471" y="0"/>
                <a:ext cx="4501645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5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7" name="Google Shape;97;p5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6"/>
          <p:cNvGrpSpPr/>
          <p:nvPr/>
        </p:nvGrpSpPr>
        <p:grpSpPr>
          <a:xfrm>
            <a:off x="2452274" y="-233626"/>
            <a:ext cx="10210325" cy="7136076"/>
            <a:chOff x="0" y="-38100"/>
            <a:chExt cx="4033708" cy="2819191"/>
          </a:xfrm>
        </p:grpSpPr>
        <p:sp>
          <p:nvSpPr>
            <p:cNvPr id="103" name="Google Shape;103;p6"/>
            <p:cNvSpPr/>
            <p:nvPr/>
          </p:nvSpPr>
          <p:spPr>
            <a:xfrm>
              <a:off x="0" y="0"/>
              <a:ext cx="4033708" cy="2781091"/>
            </a:xfrm>
            <a:custGeom>
              <a:avLst/>
              <a:gdLst/>
              <a:ahLst/>
              <a:cxnLst/>
              <a:rect l="l" t="t" r="r" b="b"/>
              <a:pathLst>
                <a:path w="4033708" h="2781091" extrusionOk="0">
                  <a:moveTo>
                    <a:pt x="0" y="0"/>
                  </a:moveTo>
                  <a:lnTo>
                    <a:pt x="4033708" y="0"/>
                  </a:lnTo>
                  <a:lnTo>
                    <a:pt x="4033708" y="2781091"/>
                  </a:lnTo>
                  <a:lnTo>
                    <a:pt x="0" y="27810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6"/>
          <p:cNvSpPr/>
          <p:nvPr/>
        </p:nvSpPr>
        <p:spPr>
          <a:xfrm>
            <a:off x="-2332285" y="-4570091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 rot="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6"/>
          <p:cNvGrpSpPr/>
          <p:nvPr/>
        </p:nvGrpSpPr>
        <p:grpSpPr>
          <a:xfrm>
            <a:off x="-2201356" y="6386175"/>
            <a:ext cx="16048418" cy="2153835"/>
            <a:chOff x="0" y="-192881"/>
            <a:chExt cx="32096836" cy="4307669"/>
          </a:xfrm>
        </p:grpSpPr>
        <p:grpSp>
          <p:nvGrpSpPr>
            <p:cNvPr id="108" name="Google Shape;108;p6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109" name="Google Shape;109;p6"/>
              <p:cNvSpPr/>
              <p:nvPr/>
            </p:nvSpPr>
            <p:spPr>
              <a:xfrm>
                <a:off x="1838471" y="0"/>
                <a:ext cx="4501645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6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" name="Google Shape;111;p6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6"/>
          <p:cNvSpPr txBox="1"/>
          <p:nvPr/>
        </p:nvSpPr>
        <p:spPr>
          <a:xfrm>
            <a:off x="239822" y="4452529"/>
            <a:ext cx="2096978" cy="8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¿Desde el </a:t>
            </a:r>
            <a:endParaRPr/>
          </a:p>
          <a:p>
            <a:pPr marL="0" marR="0" lvl="0" indent="0" algn="ctr" rtl="0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Agua?</a:t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876167" y="68487"/>
            <a:ext cx="5298893" cy="6095657"/>
          </a:xfrm>
          <a:custGeom>
            <a:avLst/>
            <a:gdLst/>
            <a:ahLst/>
            <a:cxnLst/>
            <a:rect l="l" t="t" r="r" b="b"/>
            <a:pathLst>
              <a:path w="5742606" h="6120054" extrusionOk="0">
                <a:moveTo>
                  <a:pt x="0" y="0"/>
                </a:moveTo>
                <a:lnTo>
                  <a:pt x="5742606" y="0"/>
                </a:lnTo>
                <a:lnTo>
                  <a:pt x="5742606" y="6120054"/>
                </a:lnTo>
                <a:lnTo>
                  <a:pt x="0" y="6120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2674898" y="2916039"/>
            <a:ext cx="3978600" cy="19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09303" marR="0" lvl="1" indent="-204652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2D59"/>
              </a:buClr>
              <a:buSzPts val="1895"/>
              <a:buFont typeface="Arial"/>
              <a:buChar char="•"/>
            </a:pPr>
            <a:r>
              <a:rPr lang="en-US" sz="1895" b="1" i="0" u="none" strike="noStrike" cap="none">
                <a:solidFill>
                  <a:srgbClr val="032D59"/>
                </a:solidFill>
                <a:latin typeface="Amiko"/>
                <a:ea typeface="Amiko"/>
                <a:cs typeface="Amiko"/>
                <a:sym typeface="Amiko"/>
              </a:rPr>
              <a:t>Área marítima libre 530.903,60 km². [3]</a:t>
            </a:r>
            <a:endParaRPr/>
          </a:p>
          <a:p>
            <a:pPr marL="409303" marR="0" lvl="1" indent="-204652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2D59"/>
              </a:buClr>
              <a:buSzPts val="1895"/>
              <a:buFont typeface="Arial"/>
              <a:buChar char="•"/>
            </a:pPr>
            <a:r>
              <a:rPr lang="en-US" sz="1895" b="1" i="0" u="none" strike="noStrike" cap="none">
                <a:solidFill>
                  <a:srgbClr val="032D59"/>
                </a:solidFill>
                <a:latin typeface="Amiko"/>
                <a:ea typeface="Amiko"/>
                <a:cs typeface="Amiko"/>
                <a:sym typeface="Amiko"/>
              </a:rPr>
              <a:t>Aprovechamiento del </a:t>
            </a:r>
            <a:r>
              <a:rPr lang="en-US" sz="1895" b="1">
                <a:solidFill>
                  <a:srgbClr val="032D59"/>
                </a:solidFill>
                <a:latin typeface="Amiko"/>
                <a:ea typeface="Amiko"/>
                <a:cs typeface="Amiko"/>
                <a:sym typeface="Amiko"/>
              </a:rPr>
              <a:t>área</a:t>
            </a:r>
            <a:r>
              <a:rPr lang="en-US" sz="1895" b="1" i="0" u="none" strike="noStrike" cap="none">
                <a:solidFill>
                  <a:srgbClr val="032D59"/>
                </a:solidFill>
                <a:latin typeface="Amiko"/>
                <a:ea typeface="Amiko"/>
                <a:cs typeface="Amiko"/>
                <a:sym typeface="Amiko"/>
              </a:rPr>
              <a:t> </a:t>
            </a:r>
            <a:r>
              <a:rPr lang="en-US" sz="1895" b="1">
                <a:solidFill>
                  <a:srgbClr val="032D59"/>
                </a:solidFill>
                <a:latin typeface="Amiko"/>
                <a:ea typeface="Amiko"/>
                <a:cs typeface="Amiko"/>
                <a:sym typeface="Amiko"/>
              </a:rPr>
              <a:t>marítima</a:t>
            </a:r>
            <a:r>
              <a:rPr lang="en-US" sz="1895" b="1" i="0" u="none" strike="noStrike" cap="none">
                <a:solidFill>
                  <a:srgbClr val="032D59"/>
                </a:solidFill>
                <a:latin typeface="Amiko"/>
                <a:ea typeface="Amiko"/>
                <a:cs typeface="Amiko"/>
                <a:sym typeface="Amiko"/>
              </a:rPr>
              <a:t> </a:t>
            </a:r>
            <a:r>
              <a:rPr lang="en-US" sz="1895" b="1">
                <a:solidFill>
                  <a:srgbClr val="032D59"/>
                </a:solidFill>
                <a:latin typeface="Amiko"/>
                <a:ea typeface="Amiko"/>
                <a:cs typeface="Amiko"/>
                <a:sym typeface="Amiko"/>
              </a:rPr>
              <a:t>económica</a:t>
            </a:r>
            <a:r>
              <a:rPr lang="en-US" sz="1895" b="1" i="0" u="none" strike="noStrike" cap="none">
                <a:solidFill>
                  <a:srgbClr val="032D59"/>
                </a:solidFill>
                <a:latin typeface="Amiko"/>
                <a:ea typeface="Amiko"/>
                <a:cs typeface="Amiko"/>
                <a:sym typeface="Amiko"/>
              </a:rPr>
              <a:t> exclusiva</a:t>
            </a:r>
            <a:endParaRPr sz="1895" b="1" i="0" u="none" strike="noStrike" cap="none">
              <a:solidFill>
                <a:srgbClr val="032D59"/>
              </a:solidFill>
              <a:latin typeface="Amiko"/>
              <a:ea typeface="Amiko"/>
              <a:cs typeface="Amiko"/>
              <a:sym typeface="Amik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 rot="10800000">
            <a:off x="-2555503" y="-4698626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9"/>
          <p:cNvGrpSpPr/>
          <p:nvPr/>
        </p:nvGrpSpPr>
        <p:grpSpPr>
          <a:xfrm>
            <a:off x="-2201357" y="6386175"/>
            <a:ext cx="14393357" cy="2153835"/>
            <a:chOff x="0" y="-192881"/>
            <a:chExt cx="28786715" cy="4307669"/>
          </a:xfrm>
        </p:grpSpPr>
        <p:grpSp>
          <p:nvGrpSpPr>
            <p:cNvPr id="122" name="Google Shape;122;p9"/>
            <p:cNvGrpSpPr/>
            <p:nvPr/>
          </p:nvGrpSpPr>
          <p:grpSpPr>
            <a:xfrm>
              <a:off x="0" y="-192881"/>
              <a:ext cx="28786715" cy="4307669"/>
              <a:chOff x="0" y="-38100"/>
              <a:chExt cx="5686265" cy="850900"/>
            </a:xfrm>
          </p:grpSpPr>
          <p:sp>
            <p:nvSpPr>
              <p:cNvPr id="123" name="Google Shape;123;p9"/>
              <p:cNvSpPr/>
              <p:nvPr/>
            </p:nvSpPr>
            <p:spPr>
              <a:xfrm>
                <a:off x="869672" y="0"/>
                <a:ext cx="4816593" cy="142430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9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5" name="Google Shape;125;p9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9"/>
          <p:cNvSpPr/>
          <p:nvPr/>
        </p:nvSpPr>
        <p:spPr>
          <a:xfrm rot="-2625670">
            <a:off x="11029385" y="5397357"/>
            <a:ext cx="694823" cy="738191"/>
          </a:xfrm>
          <a:custGeom>
            <a:avLst/>
            <a:gdLst/>
            <a:ahLst/>
            <a:cxnLst/>
            <a:rect l="l" t="t" r="r" b="b"/>
            <a:pathLst>
              <a:path w="1042234" h="1107287" extrusionOk="0">
                <a:moveTo>
                  <a:pt x="0" y="0"/>
                </a:moveTo>
                <a:lnTo>
                  <a:pt x="1042234" y="0"/>
                </a:lnTo>
                <a:lnTo>
                  <a:pt x="1042234" y="1107287"/>
                </a:lnTo>
                <a:lnTo>
                  <a:pt x="0" y="1107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9" descr="Diagrama&#10;&#10;Descripción generada automáticamente"/>
          <p:cNvPicPr preferRelativeResize="0"/>
          <p:nvPr/>
        </p:nvPicPr>
        <p:blipFill rotWithShape="1">
          <a:blip r:embed="rId6">
            <a:alphaModFix/>
          </a:blip>
          <a:srcRect t="4073" b="15185"/>
          <a:stretch/>
        </p:blipFill>
        <p:spPr>
          <a:xfrm>
            <a:off x="1203960" y="435328"/>
            <a:ext cx="9784080" cy="5581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/>
          <p:nvPr/>
        </p:nvSpPr>
        <p:spPr>
          <a:xfrm rot="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 rot="-5601629">
            <a:off x="10580605" y="684988"/>
            <a:ext cx="873529" cy="928053"/>
          </a:xfrm>
          <a:custGeom>
            <a:avLst/>
            <a:gdLst/>
            <a:ahLst/>
            <a:cxnLst/>
            <a:rect l="l" t="t" r="r" b="b"/>
            <a:pathLst>
              <a:path w="1310294" h="1392079" extrusionOk="0">
                <a:moveTo>
                  <a:pt x="0" y="0"/>
                </a:moveTo>
                <a:lnTo>
                  <a:pt x="1310294" y="0"/>
                </a:lnTo>
                <a:lnTo>
                  <a:pt x="1310294" y="1392078"/>
                </a:lnTo>
                <a:lnTo>
                  <a:pt x="0" y="1392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p10"/>
          <p:cNvGrpSpPr/>
          <p:nvPr/>
        </p:nvGrpSpPr>
        <p:grpSpPr>
          <a:xfrm>
            <a:off x="1251296" y="1612228"/>
            <a:ext cx="3031259" cy="4174262"/>
            <a:chOff x="-2773" y="0"/>
            <a:chExt cx="701273" cy="965703"/>
          </a:xfrm>
        </p:grpSpPr>
        <p:sp>
          <p:nvSpPr>
            <p:cNvPr id="136" name="Google Shape;136;p10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0"/>
            <p:cNvSpPr txBox="1"/>
            <p:nvPr/>
          </p:nvSpPr>
          <p:spPr>
            <a:xfrm>
              <a:off x="-2773" y="283588"/>
              <a:ext cx="6985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3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33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 Base flotante     </a:t>
              </a:r>
              <a:endParaRPr/>
            </a:p>
            <a:p>
              <a:pPr marL="0" marR="0" lvl="0" indent="0" algn="ctr" rtl="0">
                <a:lnSpc>
                  <a:spcPct val="1575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842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10"/>
          <p:cNvGrpSpPr/>
          <p:nvPr/>
        </p:nvGrpSpPr>
        <p:grpSpPr>
          <a:xfrm>
            <a:off x="4574377" y="1612228"/>
            <a:ext cx="3031260" cy="4174262"/>
            <a:chOff x="-2773" y="0"/>
            <a:chExt cx="701273" cy="965703"/>
          </a:xfrm>
        </p:grpSpPr>
        <p:sp>
          <p:nvSpPr>
            <p:cNvPr id="139" name="Google Shape;139;p10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0"/>
            <p:cNvSpPr txBox="1"/>
            <p:nvPr/>
          </p:nvSpPr>
          <p:spPr>
            <a:xfrm>
              <a:off x="-2773" y="239711"/>
              <a:ext cx="6985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3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33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2- Gemelo digital de la plataforma</a:t>
              </a:r>
              <a:endParaRPr sz="126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3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933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0"/>
          <p:cNvGrpSpPr/>
          <p:nvPr/>
        </p:nvGrpSpPr>
        <p:grpSpPr>
          <a:xfrm>
            <a:off x="7897460" y="1612228"/>
            <a:ext cx="3031259" cy="4174262"/>
            <a:chOff x="-2773" y="0"/>
            <a:chExt cx="701273" cy="965703"/>
          </a:xfrm>
        </p:grpSpPr>
        <p:sp>
          <p:nvSpPr>
            <p:cNvPr id="142" name="Google Shape;142;p10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0"/>
            <p:cNvSpPr txBox="1"/>
            <p:nvPr/>
          </p:nvSpPr>
          <p:spPr>
            <a:xfrm>
              <a:off x="-2773" y="271139"/>
              <a:ext cx="6985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3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33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3- Controladores</a:t>
              </a:r>
              <a:endParaRPr sz="126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842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2137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10"/>
          <p:cNvGrpSpPr/>
          <p:nvPr/>
        </p:nvGrpSpPr>
        <p:grpSpPr>
          <a:xfrm>
            <a:off x="-2201356" y="6386175"/>
            <a:ext cx="16048418" cy="2153837"/>
            <a:chOff x="0" y="-192881"/>
            <a:chExt cx="32096836" cy="4307669"/>
          </a:xfrm>
        </p:grpSpPr>
        <p:grpSp>
          <p:nvGrpSpPr>
            <p:cNvPr id="145" name="Google Shape;145;p10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146" name="Google Shape;146;p10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" name="Google Shape;148;p10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0"/>
          <p:cNvSpPr txBox="1"/>
          <p:nvPr/>
        </p:nvSpPr>
        <p:spPr>
          <a:xfrm>
            <a:off x="550842" y="533400"/>
            <a:ext cx="8226757" cy="740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Línea de</a:t>
            </a:r>
            <a:endParaRPr/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 de los Prototipos</a:t>
            </a:r>
            <a:endParaRPr sz="306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/>
          <p:nvPr/>
        </p:nvSpPr>
        <p:spPr>
          <a:xfrm rot="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p11"/>
          <p:cNvGrpSpPr/>
          <p:nvPr/>
        </p:nvGrpSpPr>
        <p:grpSpPr>
          <a:xfrm>
            <a:off x="-2201356" y="6386175"/>
            <a:ext cx="16048418" cy="2153837"/>
            <a:chOff x="0" y="-192881"/>
            <a:chExt cx="32096836" cy="4307669"/>
          </a:xfrm>
        </p:grpSpPr>
        <p:grpSp>
          <p:nvGrpSpPr>
            <p:cNvPr id="157" name="Google Shape;157;p11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158" name="Google Shape;158;p11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0" name="Google Shape;160;p11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1" name="Google Shape;161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9228" y="1076960"/>
            <a:ext cx="4813544" cy="5405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/>
          <p:nvPr/>
        </p:nvSpPr>
        <p:spPr>
          <a:xfrm rot="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12"/>
          <p:cNvGrpSpPr/>
          <p:nvPr/>
        </p:nvGrpSpPr>
        <p:grpSpPr>
          <a:xfrm>
            <a:off x="5778500" y="-35663"/>
            <a:ext cx="6423660" cy="6716241"/>
            <a:chOff x="0" y="-38100"/>
            <a:chExt cx="3395488" cy="2653330"/>
          </a:xfrm>
        </p:grpSpPr>
        <p:sp>
          <p:nvSpPr>
            <p:cNvPr id="168" name="Google Shape;168;p12"/>
            <p:cNvSpPr/>
            <p:nvPr/>
          </p:nvSpPr>
          <p:spPr>
            <a:xfrm>
              <a:off x="0" y="0"/>
              <a:ext cx="3395488" cy="2615230"/>
            </a:xfrm>
            <a:custGeom>
              <a:avLst/>
              <a:gdLst/>
              <a:ahLst/>
              <a:cxnLst/>
              <a:rect l="l" t="t" r="r" b="b"/>
              <a:pathLst>
                <a:path w="3395488" h="2615230" extrusionOk="0">
                  <a:moveTo>
                    <a:pt x="0" y="0"/>
                  </a:moveTo>
                  <a:lnTo>
                    <a:pt x="3395488" y="0"/>
                  </a:lnTo>
                  <a:lnTo>
                    <a:pt x="3395488" y="2615230"/>
                  </a:lnTo>
                  <a:lnTo>
                    <a:pt x="0" y="26152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12"/>
          <p:cNvSpPr/>
          <p:nvPr/>
        </p:nvSpPr>
        <p:spPr>
          <a:xfrm>
            <a:off x="7940575" y="4954356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" name="Google Shape;171;p12"/>
          <p:cNvGrpSpPr/>
          <p:nvPr/>
        </p:nvGrpSpPr>
        <p:grpSpPr>
          <a:xfrm>
            <a:off x="862606" y="1602420"/>
            <a:ext cx="3035703" cy="4174262"/>
            <a:chOff x="-3801" y="0"/>
            <a:chExt cx="702301" cy="965703"/>
          </a:xfrm>
        </p:grpSpPr>
        <p:sp>
          <p:nvSpPr>
            <p:cNvPr id="172" name="Google Shape;172;p12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2"/>
            <p:cNvSpPr txBox="1"/>
            <p:nvPr/>
          </p:nvSpPr>
          <p:spPr>
            <a:xfrm>
              <a:off x="-3801" y="262800"/>
              <a:ext cx="6985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268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3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Base flotante</a:t>
              </a:r>
              <a:endParaRPr sz="2133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180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3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73486" marR="0" lvl="1" indent="-136744" algn="l" rtl="0">
                <a:lnSpc>
                  <a:spcPct val="94965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67"/>
                <a:buFont typeface="Arial"/>
                <a:buChar char="•"/>
              </a:pPr>
              <a:r>
                <a:rPr lang="en-US" sz="1867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Estructura estable</a:t>
              </a: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36743" marR="0" lvl="1" indent="0" algn="l" rtl="0">
                <a:lnSpc>
                  <a:spcPct val="94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73486" marR="0" lvl="1" indent="-136744" algn="l" rtl="0">
                <a:lnSpc>
                  <a:spcPct val="94965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67"/>
                <a:buFont typeface="Arial"/>
                <a:buChar char="•"/>
              </a:pPr>
              <a:r>
                <a:rPr lang="en-US" sz="1867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Medición y almacenamiento                     de parámetros inerciales</a:t>
              </a: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36743" marR="0" lvl="1" indent="0" algn="l" rtl="0">
                <a:lnSpc>
                  <a:spcPct val="94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73486" marR="0" lvl="1" indent="-136744" algn="l" rtl="0">
                <a:lnSpc>
                  <a:spcPct val="94965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67"/>
                <a:buFont typeface="Arial"/>
                <a:buChar char="•"/>
              </a:pPr>
              <a:r>
                <a:rPr lang="en-US" sz="1867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Comunicación OBC-GS</a:t>
              </a:r>
              <a:endParaRPr/>
            </a:p>
            <a:p>
              <a:pPr marL="0" marR="0" lvl="0" indent="0" algn="l" rtl="0">
                <a:lnSpc>
                  <a:spcPct val="1842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842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2137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12"/>
          <p:cNvGrpSpPr/>
          <p:nvPr/>
        </p:nvGrpSpPr>
        <p:grpSpPr>
          <a:xfrm>
            <a:off x="-2201357" y="6386175"/>
            <a:ext cx="14393357" cy="2153835"/>
            <a:chOff x="0" y="-192881"/>
            <a:chExt cx="28786715" cy="4307669"/>
          </a:xfrm>
        </p:grpSpPr>
        <p:grpSp>
          <p:nvGrpSpPr>
            <p:cNvPr id="175" name="Google Shape;175;p12"/>
            <p:cNvGrpSpPr/>
            <p:nvPr/>
          </p:nvGrpSpPr>
          <p:grpSpPr>
            <a:xfrm>
              <a:off x="0" y="-192881"/>
              <a:ext cx="28786715" cy="4307669"/>
              <a:chOff x="0" y="-38100"/>
              <a:chExt cx="5686265" cy="850900"/>
            </a:xfrm>
          </p:grpSpPr>
          <p:sp>
            <p:nvSpPr>
              <p:cNvPr id="176" name="Google Shape;176;p12"/>
              <p:cNvSpPr/>
              <p:nvPr/>
            </p:nvSpPr>
            <p:spPr>
              <a:xfrm>
                <a:off x="0" y="0"/>
                <a:ext cx="5686265" cy="171966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2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8" name="Google Shape;178;p12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12"/>
          <p:cNvSpPr txBox="1"/>
          <p:nvPr/>
        </p:nvSpPr>
        <p:spPr>
          <a:xfrm>
            <a:off x="442740" y="312404"/>
            <a:ext cx="4221480" cy="740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Línea de</a:t>
            </a:r>
            <a:endParaRPr/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 de Prototipos</a:t>
            </a:r>
            <a:endParaRPr sz="306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12"/>
          <p:cNvCxnSpPr/>
          <p:nvPr/>
        </p:nvCxnSpPr>
        <p:spPr>
          <a:xfrm>
            <a:off x="4096943" y="3429000"/>
            <a:ext cx="1534448" cy="0"/>
          </a:xfrm>
          <a:prstGeom prst="straightConnector1">
            <a:avLst/>
          </a:prstGeom>
          <a:noFill/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181" name="Google Shape;181;p12" descr="Imagen que contiene agua, pieza, nieve, pastel&#10;&#10;Descripción generada automá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13571" y="314260"/>
            <a:ext cx="5537314" cy="3114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2" descr="Imagen que contiene tabla, computadora, escritorio&#10;&#10;Descripción generada automáticamente"/>
          <p:cNvPicPr preferRelativeResize="0"/>
          <p:nvPr/>
        </p:nvPicPr>
        <p:blipFill rotWithShape="1">
          <a:blip r:embed="rId6">
            <a:alphaModFix/>
          </a:blip>
          <a:srcRect l="26101" r="27079"/>
          <a:stretch/>
        </p:blipFill>
        <p:spPr>
          <a:xfrm>
            <a:off x="8967791" y="3292681"/>
            <a:ext cx="2303168" cy="27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2" descr="Imagen que contiene monitor, interior, computadora, pantalla&#10;&#10;Descripción generada automáticamente"/>
          <p:cNvPicPr preferRelativeResize="0"/>
          <p:nvPr/>
        </p:nvPicPr>
        <p:blipFill rotWithShape="1">
          <a:blip r:embed="rId7">
            <a:alphaModFix/>
          </a:blip>
          <a:srcRect l="24690" r="25020"/>
          <a:stretch/>
        </p:blipFill>
        <p:spPr>
          <a:xfrm>
            <a:off x="6113571" y="3369600"/>
            <a:ext cx="2779820" cy="2811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/>
          <p:nvPr/>
        </p:nvSpPr>
        <p:spPr>
          <a:xfrm rot="10800000">
            <a:off x="7127040" y="-4555207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-2683041" y="4270951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25447" y="1012813"/>
            <a:ext cx="4741105" cy="5469802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196"/>
              </a:srgbClr>
            </a:outerShdw>
          </a:effectLst>
        </p:spPr>
      </p:pic>
      <p:grpSp>
        <p:nvGrpSpPr>
          <p:cNvPr id="192" name="Google Shape;192;p13"/>
          <p:cNvGrpSpPr/>
          <p:nvPr/>
        </p:nvGrpSpPr>
        <p:grpSpPr>
          <a:xfrm>
            <a:off x="-2201356" y="6386175"/>
            <a:ext cx="16048418" cy="2153837"/>
            <a:chOff x="0" y="-192881"/>
            <a:chExt cx="32096836" cy="4307669"/>
          </a:xfrm>
        </p:grpSpPr>
        <p:grpSp>
          <p:nvGrpSpPr>
            <p:cNvPr id="193" name="Google Shape;193;p13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194" name="Google Shape;194;p13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3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6" name="Google Shape;196;p13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/>
          <p:nvPr/>
        </p:nvSpPr>
        <p:spPr>
          <a:xfrm rot="10800000">
            <a:off x="-2847523" y="-4667693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p14"/>
          <p:cNvGrpSpPr/>
          <p:nvPr/>
        </p:nvGrpSpPr>
        <p:grpSpPr>
          <a:xfrm>
            <a:off x="4581652" y="-93952"/>
            <a:ext cx="7610348" cy="6951952"/>
            <a:chOff x="0" y="-38100"/>
            <a:chExt cx="3395488" cy="2819191"/>
          </a:xfrm>
        </p:grpSpPr>
        <p:sp>
          <p:nvSpPr>
            <p:cNvPr id="203" name="Google Shape;203;p14"/>
            <p:cNvSpPr/>
            <p:nvPr/>
          </p:nvSpPr>
          <p:spPr>
            <a:xfrm>
              <a:off x="0" y="0"/>
              <a:ext cx="3395488" cy="2781091"/>
            </a:xfrm>
            <a:custGeom>
              <a:avLst/>
              <a:gdLst/>
              <a:ahLst/>
              <a:cxnLst/>
              <a:rect l="l" t="t" r="r" b="b"/>
              <a:pathLst>
                <a:path w="3395488" h="2781091" extrusionOk="0">
                  <a:moveTo>
                    <a:pt x="0" y="0"/>
                  </a:moveTo>
                  <a:lnTo>
                    <a:pt x="3395488" y="0"/>
                  </a:lnTo>
                  <a:lnTo>
                    <a:pt x="3395488" y="2781091"/>
                  </a:lnTo>
                  <a:lnTo>
                    <a:pt x="0" y="27810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14"/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14"/>
          <p:cNvGrpSpPr/>
          <p:nvPr/>
        </p:nvGrpSpPr>
        <p:grpSpPr>
          <a:xfrm>
            <a:off x="-2201356" y="6386175"/>
            <a:ext cx="16048418" cy="2153837"/>
            <a:chOff x="0" y="-192881"/>
            <a:chExt cx="32096836" cy="4307669"/>
          </a:xfrm>
        </p:grpSpPr>
        <p:grpSp>
          <p:nvGrpSpPr>
            <p:cNvPr id="207" name="Google Shape;207;p14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208" name="Google Shape;208;p14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4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0" name="Google Shape;210;p14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14"/>
          <p:cNvSpPr txBox="1"/>
          <p:nvPr/>
        </p:nvSpPr>
        <p:spPr>
          <a:xfrm>
            <a:off x="579120" y="492639"/>
            <a:ext cx="8226757" cy="740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Línea de</a:t>
            </a:r>
            <a:endParaRPr/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 de Prototipos</a:t>
            </a:r>
            <a:endParaRPr/>
          </a:p>
        </p:txBody>
      </p:sp>
      <p:grpSp>
        <p:nvGrpSpPr>
          <p:cNvPr id="212" name="Google Shape;212;p14"/>
          <p:cNvGrpSpPr/>
          <p:nvPr/>
        </p:nvGrpSpPr>
        <p:grpSpPr>
          <a:xfrm>
            <a:off x="818811" y="1600847"/>
            <a:ext cx="3019273" cy="4174262"/>
            <a:chOff x="0" y="0"/>
            <a:chExt cx="698500" cy="965703"/>
          </a:xfrm>
        </p:grpSpPr>
        <p:sp>
          <p:nvSpPr>
            <p:cNvPr id="213" name="Google Shape;213;p14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4"/>
            <p:cNvSpPr txBox="1"/>
            <p:nvPr/>
          </p:nvSpPr>
          <p:spPr>
            <a:xfrm>
              <a:off x="0" y="271292"/>
              <a:ext cx="6985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3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33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Gemelo digital de la plataforma</a:t>
              </a:r>
              <a:endParaRPr sz="1933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692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73486" marR="0" lvl="1" indent="-136744" algn="l" rtl="0">
                <a:lnSpc>
                  <a:spcPct val="9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Char char="•"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Desarrollo e implementación de un amortiguador activo. [1]</a:t>
              </a:r>
              <a:endParaRPr/>
            </a:p>
            <a:p>
              <a:pPr marL="0" marR="0" lvl="0" indent="0" algn="l" rtl="0">
                <a:lnSpc>
                  <a:spcPct val="1842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842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842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2137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14"/>
          <p:cNvSpPr/>
          <p:nvPr/>
        </p:nvSpPr>
        <p:spPr>
          <a:xfrm rot="-2625670">
            <a:off x="440685" y="5397357"/>
            <a:ext cx="694823" cy="738191"/>
          </a:xfrm>
          <a:custGeom>
            <a:avLst/>
            <a:gdLst/>
            <a:ahLst/>
            <a:cxnLst/>
            <a:rect l="l" t="t" r="r" b="b"/>
            <a:pathLst>
              <a:path w="1042234" h="1107287" extrusionOk="0">
                <a:moveTo>
                  <a:pt x="0" y="0"/>
                </a:moveTo>
                <a:lnTo>
                  <a:pt x="1042234" y="0"/>
                </a:lnTo>
                <a:lnTo>
                  <a:pt x="1042234" y="1107287"/>
                </a:lnTo>
                <a:lnTo>
                  <a:pt x="0" y="1107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40787" y="1233034"/>
            <a:ext cx="3446039" cy="391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09627" y="1533953"/>
            <a:ext cx="3208432" cy="3309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/>
          <p:nvPr/>
        </p:nvSpPr>
        <p:spPr>
          <a:xfrm rot="-8071618">
            <a:off x="-1752848" y="-438609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 rot="-4637478">
            <a:off x="6941927" y="2560973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81226" y="950253"/>
            <a:ext cx="4800089" cy="5490418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196"/>
              </a:srgbClr>
            </a:outerShdw>
          </a:effectLst>
        </p:spPr>
      </p:pic>
      <p:grpSp>
        <p:nvGrpSpPr>
          <p:cNvPr id="226" name="Google Shape;226;p15"/>
          <p:cNvGrpSpPr/>
          <p:nvPr/>
        </p:nvGrpSpPr>
        <p:grpSpPr>
          <a:xfrm>
            <a:off x="-1928714" y="6344231"/>
            <a:ext cx="16048418" cy="2153837"/>
            <a:chOff x="0" y="-192881"/>
            <a:chExt cx="32096836" cy="4307669"/>
          </a:xfrm>
        </p:grpSpPr>
        <p:grpSp>
          <p:nvGrpSpPr>
            <p:cNvPr id="227" name="Google Shape;227;p15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228" name="Google Shape;228;p15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5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0" name="Google Shape;230;p15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/>
          <p:nvPr/>
        </p:nvSpPr>
        <p:spPr>
          <a:xfrm rot="10800000">
            <a:off x="-2847523" y="-4667693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" name="Google Shape;236;p16"/>
          <p:cNvGrpSpPr/>
          <p:nvPr/>
        </p:nvGrpSpPr>
        <p:grpSpPr>
          <a:xfrm>
            <a:off x="4581652" y="-93952"/>
            <a:ext cx="7610348" cy="6951952"/>
            <a:chOff x="0" y="-38100"/>
            <a:chExt cx="3395488" cy="2819191"/>
          </a:xfrm>
        </p:grpSpPr>
        <p:sp>
          <p:nvSpPr>
            <p:cNvPr id="237" name="Google Shape;237;p16"/>
            <p:cNvSpPr/>
            <p:nvPr/>
          </p:nvSpPr>
          <p:spPr>
            <a:xfrm>
              <a:off x="0" y="0"/>
              <a:ext cx="3395488" cy="2781091"/>
            </a:xfrm>
            <a:custGeom>
              <a:avLst/>
              <a:gdLst/>
              <a:ahLst/>
              <a:cxnLst/>
              <a:rect l="l" t="t" r="r" b="b"/>
              <a:pathLst>
                <a:path w="3395488" h="2781091" extrusionOk="0">
                  <a:moveTo>
                    <a:pt x="0" y="0"/>
                  </a:moveTo>
                  <a:lnTo>
                    <a:pt x="3395488" y="0"/>
                  </a:lnTo>
                  <a:lnTo>
                    <a:pt x="3395488" y="2781091"/>
                  </a:lnTo>
                  <a:lnTo>
                    <a:pt x="0" y="27810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16"/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" name="Google Shape;240;p16"/>
          <p:cNvGrpSpPr/>
          <p:nvPr/>
        </p:nvGrpSpPr>
        <p:grpSpPr>
          <a:xfrm>
            <a:off x="-2201356" y="6386175"/>
            <a:ext cx="16048418" cy="2153837"/>
            <a:chOff x="0" y="-192881"/>
            <a:chExt cx="32096836" cy="4307669"/>
          </a:xfrm>
        </p:grpSpPr>
        <p:grpSp>
          <p:nvGrpSpPr>
            <p:cNvPr id="241" name="Google Shape;241;p16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242" name="Google Shape;242;p16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16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4" name="Google Shape;244;p16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16"/>
          <p:cNvSpPr txBox="1"/>
          <p:nvPr/>
        </p:nvSpPr>
        <p:spPr>
          <a:xfrm>
            <a:off x="579120" y="492639"/>
            <a:ext cx="8226757" cy="740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Línea de</a:t>
            </a:r>
            <a:endParaRPr/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 de Prototipos</a:t>
            </a:r>
            <a:endParaRPr/>
          </a:p>
        </p:txBody>
      </p:sp>
      <p:grpSp>
        <p:nvGrpSpPr>
          <p:cNvPr id="246" name="Google Shape;246;p16"/>
          <p:cNvGrpSpPr/>
          <p:nvPr/>
        </p:nvGrpSpPr>
        <p:grpSpPr>
          <a:xfrm>
            <a:off x="818811" y="1600847"/>
            <a:ext cx="3019273" cy="4174262"/>
            <a:chOff x="0" y="0"/>
            <a:chExt cx="698500" cy="965703"/>
          </a:xfrm>
        </p:grpSpPr>
        <p:sp>
          <p:nvSpPr>
            <p:cNvPr id="247" name="Google Shape;247;p16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 txBox="1"/>
            <p:nvPr/>
          </p:nvSpPr>
          <p:spPr>
            <a:xfrm>
              <a:off x="0" y="271292"/>
              <a:ext cx="6985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3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33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Controladores</a:t>
              </a:r>
              <a:endParaRPr sz="1933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692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73486" marR="0" lvl="1" indent="-136744" algn="l" rtl="0">
                <a:lnSpc>
                  <a:spcPct val="9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Char char="•"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PID [1]</a:t>
              </a:r>
              <a:endParaRPr/>
            </a:p>
            <a:p>
              <a:pPr marL="273486" marR="0" lvl="1" indent="-136744" algn="l" rtl="0">
                <a:lnSpc>
                  <a:spcPct val="9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Char char="•"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LQR [2]</a:t>
              </a:r>
              <a:endParaRPr/>
            </a:p>
            <a:p>
              <a:pPr marL="273486" marR="0" lvl="1" indent="-136744" algn="l" rtl="0">
                <a:lnSpc>
                  <a:spcPct val="9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Char char="•"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Cinematica inversa</a:t>
              </a:r>
              <a:endParaRPr/>
            </a:p>
            <a:p>
              <a:pPr marL="0" marR="0" lvl="0" indent="0" algn="l" rtl="0">
                <a:lnSpc>
                  <a:spcPct val="1842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842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842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2137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" name="Google Shape;249;p16"/>
          <p:cNvSpPr/>
          <p:nvPr/>
        </p:nvSpPr>
        <p:spPr>
          <a:xfrm rot="-2625670">
            <a:off x="440685" y="5397357"/>
            <a:ext cx="694823" cy="738191"/>
          </a:xfrm>
          <a:custGeom>
            <a:avLst/>
            <a:gdLst/>
            <a:ahLst/>
            <a:cxnLst/>
            <a:rect l="l" t="t" r="r" b="b"/>
            <a:pathLst>
              <a:path w="1042234" h="1107287" extrusionOk="0">
                <a:moveTo>
                  <a:pt x="0" y="0"/>
                </a:moveTo>
                <a:lnTo>
                  <a:pt x="1042234" y="0"/>
                </a:lnTo>
                <a:lnTo>
                  <a:pt x="1042234" y="1107287"/>
                </a:lnTo>
                <a:lnTo>
                  <a:pt x="0" y="1107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11677" y="771296"/>
            <a:ext cx="3520107" cy="1555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6772" y="2315298"/>
            <a:ext cx="2276417" cy="126283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6"/>
          <p:cNvSpPr txBox="1"/>
          <p:nvPr/>
        </p:nvSpPr>
        <p:spPr>
          <a:xfrm>
            <a:off x="7246442" y="1775736"/>
            <a:ext cx="6001729" cy="51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2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32D59"/>
                </a:solidFill>
                <a:latin typeface="Arial"/>
                <a:ea typeface="Arial"/>
                <a:cs typeface="Arial"/>
                <a:sym typeface="Arial"/>
              </a:rPr>
              <a:t>Controlador PID MIMO</a:t>
            </a:r>
            <a:endParaRPr sz="2400" b="1">
              <a:solidFill>
                <a:srgbClr val="032D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36655" y="3109580"/>
            <a:ext cx="3170775" cy="1254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5707" y="5414006"/>
            <a:ext cx="5140782" cy="70428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6"/>
          <p:cNvSpPr txBox="1"/>
          <p:nvPr/>
        </p:nvSpPr>
        <p:spPr>
          <a:xfrm>
            <a:off x="4332055" y="2420537"/>
            <a:ext cx="4794032" cy="51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2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32D59"/>
                </a:solidFill>
                <a:latin typeface="Arial"/>
                <a:ea typeface="Arial"/>
                <a:cs typeface="Arial"/>
                <a:sym typeface="Arial"/>
              </a:rPr>
              <a:t>Planta de control</a:t>
            </a:r>
            <a:endParaRPr sz="2400" b="1">
              <a:solidFill>
                <a:srgbClr val="032D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4374996" y="4727503"/>
            <a:ext cx="4794032" cy="51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2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32D59"/>
                </a:solidFill>
                <a:latin typeface="Arial"/>
                <a:ea typeface="Arial"/>
                <a:cs typeface="Arial"/>
                <a:sym typeface="Arial"/>
              </a:rPr>
              <a:t>Modelo del piston [5]</a:t>
            </a:r>
            <a:endParaRPr sz="2400" b="1">
              <a:solidFill>
                <a:srgbClr val="032D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6"/>
          <p:cNvSpPr txBox="1"/>
          <p:nvPr/>
        </p:nvSpPr>
        <p:spPr>
          <a:xfrm>
            <a:off x="2926590" y="232229"/>
            <a:ext cx="7541348" cy="51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2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32D59"/>
                </a:solidFill>
                <a:latin typeface="Arial"/>
                <a:ea typeface="Arial"/>
                <a:cs typeface="Arial"/>
                <a:sym typeface="Arial"/>
              </a:rPr>
              <a:t>Modelo de Simulink</a:t>
            </a:r>
            <a:endParaRPr sz="2400" b="1">
              <a:solidFill>
                <a:srgbClr val="032D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"/>
          <p:cNvSpPr/>
          <p:nvPr/>
        </p:nvSpPr>
        <p:spPr>
          <a:xfrm rot="10800000">
            <a:off x="7127040" y="-4555207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-2683041" y="4270951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5" name="Google Shape;265;p7"/>
          <p:cNvGrpSpPr/>
          <p:nvPr/>
        </p:nvGrpSpPr>
        <p:grpSpPr>
          <a:xfrm>
            <a:off x="-2201356" y="6386175"/>
            <a:ext cx="16048418" cy="2153837"/>
            <a:chOff x="0" y="-192881"/>
            <a:chExt cx="32096836" cy="4307669"/>
          </a:xfrm>
        </p:grpSpPr>
        <p:grpSp>
          <p:nvGrpSpPr>
            <p:cNvPr id="266" name="Google Shape;266;p7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267" name="Google Shape;267;p7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7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9" name="Google Shape;269;p7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7"/>
          <p:cNvSpPr txBox="1"/>
          <p:nvPr/>
        </p:nvSpPr>
        <p:spPr>
          <a:xfrm>
            <a:off x="550842" y="533400"/>
            <a:ext cx="8226757" cy="3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3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sz="40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49705" y="2123973"/>
            <a:ext cx="11434701" cy="2822781"/>
          </a:xfrm>
          <a:prstGeom prst="hexagon">
            <a:avLst>
              <a:gd name="adj" fmla="val 42990"/>
              <a:gd name="vf" fmla="val 115470"/>
            </a:avLst>
          </a:prstGeom>
          <a:solidFill>
            <a:srgbClr val="032D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Diseñar e implementar un sistema de control activo que permite la estabilización de la plataforma MARLUP, integrando la dinámica realista de actuadores y sensores con validación en entornos de simulación y un sistema HiL.</a:t>
            </a:r>
            <a:endParaRPr sz="26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"/>
          <p:cNvSpPr/>
          <p:nvPr/>
        </p:nvSpPr>
        <p:spPr>
          <a:xfrm rot="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358811" y="4634558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9" name="Google Shape;279;p8"/>
          <p:cNvGrpSpPr/>
          <p:nvPr/>
        </p:nvGrpSpPr>
        <p:grpSpPr>
          <a:xfrm>
            <a:off x="-2201356" y="6386175"/>
            <a:ext cx="16048418" cy="2153837"/>
            <a:chOff x="0" y="-192881"/>
            <a:chExt cx="32096836" cy="4307669"/>
          </a:xfrm>
        </p:grpSpPr>
        <p:grpSp>
          <p:nvGrpSpPr>
            <p:cNvPr id="280" name="Google Shape;280;p8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281" name="Google Shape;281;p8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8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3" name="Google Shape;283;p8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8"/>
          <p:cNvSpPr txBox="1"/>
          <p:nvPr/>
        </p:nvSpPr>
        <p:spPr>
          <a:xfrm>
            <a:off x="316982" y="287458"/>
            <a:ext cx="8226757" cy="3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3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sz="40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p8"/>
          <p:cNvGrpSpPr/>
          <p:nvPr/>
        </p:nvGrpSpPr>
        <p:grpSpPr>
          <a:xfrm>
            <a:off x="1741744" y="685801"/>
            <a:ext cx="8786795" cy="3098564"/>
            <a:chOff x="364059" y="2477460"/>
            <a:chExt cx="13030971" cy="5500809"/>
          </a:xfrm>
        </p:grpSpPr>
        <p:grpSp>
          <p:nvGrpSpPr>
            <p:cNvPr id="286" name="Google Shape;286;p8"/>
            <p:cNvGrpSpPr/>
            <p:nvPr/>
          </p:nvGrpSpPr>
          <p:grpSpPr>
            <a:xfrm>
              <a:off x="364059" y="2506955"/>
              <a:ext cx="3973151" cy="5471314"/>
              <a:chOff x="-2773" y="0"/>
              <a:chExt cx="701273" cy="965703"/>
            </a:xfrm>
          </p:grpSpPr>
          <p:sp>
            <p:nvSpPr>
              <p:cNvPr id="287" name="Google Shape;287;p8"/>
              <p:cNvSpPr/>
              <p:nvPr/>
            </p:nvSpPr>
            <p:spPr>
              <a:xfrm>
                <a:off x="0" y="0"/>
                <a:ext cx="698500" cy="965703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965703" extrusionOk="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762503"/>
                    </a:lnTo>
                    <a:lnTo>
                      <a:pt x="349250" y="965703"/>
                    </a:lnTo>
                    <a:lnTo>
                      <a:pt x="0" y="762503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032D5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8"/>
              <p:cNvSpPr txBox="1"/>
              <p:nvPr/>
            </p:nvSpPr>
            <p:spPr>
              <a:xfrm>
                <a:off x="-2773" y="215875"/>
                <a:ext cx="698500" cy="53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937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33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Diseñar y simular  el modelo dinámico de los actuadores de la planta.</a:t>
                </a:r>
                <a:endParaRPr sz="2133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9" name="Google Shape;289;p8"/>
            <p:cNvGrpSpPr/>
            <p:nvPr/>
          </p:nvGrpSpPr>
          <p:grpSpPr>
            <a:xfrm>
              <a:off x="4892969" y="2500723"/>
              <a:ext cx="3973151" cy="5471314"/>
              <a:chOff x="-2773" y="0"/>
              <a:chExt cx="701273" cy="965703"/>
            </a:xfrm>
          </p:grpSpPr>
          <p:sp>
            <p:nvSpPr>
              <p:cNvPr id="290" name="Google Shape;290;p8"/>
              <p:cNvSpPr/>
              <p:nvPr/>
            </p:nvSpPr>
            <p:spPr>
              <a:xfrm>
                <a:off x="0" y="0"/>
                <a:ext cx="698500" cy="965703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965703" extrusionOk="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762503"/>
                    </a:lnTo>
                    <a:lnTo>
                      <a:pt x="349250" y="965703"/>
                    </a:lnTo>
                    <a:lnTo>
                      <a:pt x="0" y="762503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032D5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8"/>
              <p:cNvSpPr txBox="1"/>
              <p:nvPr/>
            </p:nvSpPr>
            <p:spPr>
              <a:xfrm>
                <a:off x="-2773" y="215875"/>
                <a:ext cx="698500" cy="53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937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33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Incorporar sensores que representen dispositivos reales como IMU Y </a:t>
                </a:r>
                <a:r>
                  <a:rPr lang="en-US" sz="2133">
                    <a:solidFill>
                      <a:srgbClr val="FFFFFF"/>
                    </a:solidFill>
                  </a:rPr>
                  <a:t>encoder lineal</a:t>
                </a:r>
                <a:r>
                  <a:rPr lang="en-US" sz="2133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sz="2133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2" name="Google Shape;292;p8"/>
            <p:cNvGrpSpPr/>
            <p:nvPr/>
          </p:nvGrpSpPr>
          <p:grpSpPr>
            <a:xfrm>
              <a:off x="9421879" y="2477460"/>
              <a:ext cx="3973151" cy="5471314"/>
              <a:chOff x="-2773" y="0"/>
              <a:chExt cx="701273" cy="965703"/>
            </a:xfrm>
          </p:grpSpPr>
          <p:sp>
            <p:nvSpPr>
              <p:cNvPr id="293" name="Google Shape;293;p8"/>
              <p:cNvSpPr/>
              <p:nvPr/>
            </p:nvSpPr>
            <p:spPr>
              <a:xfrm>
                <a:off x="0" y="0"/>
                <a:ext cx="698500" cy="965703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965703" extrusionOk="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762503"/>
                    </a:lnTo>
                    <a:lnTo>
                      <a:pt x="349250" y="965703"/>
                    </a:lnTo>
                    <a:lnTo>
                      <a:pt x="0" y="762503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032D5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8"/>
              <p:cNvSpPr txBox="1"/>
              <p:nvPr/>
            </p:nvSpPr>
            <p:spPr>
              <a:xfrm>
                <a:off x="-2773" y="215875"/>
                <a:ext cx="698500" cy="53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937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33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Diseñar controladores para la estabilización de las variables deseadas.</a:t>
                </a:r>
                <a:endParaRPr sz="2133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5" name="Google Shape;295;p8"/>
          <p:cNvGrpSpPr/>
          <p:nvPr/>
        </p:nvGrpSpPr>
        <p:grpSpPr>
          <a:xfrm>
            <a:off x="3257949" y="3401016"/>
            <a:ext cx="2679099" cy="3081950"/>
            <a:chOff x="-2773" y="0"/>
            <a:chExt cx="701273" cy="965703"/>
          </a:xfrm>
        </p:grpSpPr>
        <p:sp>
          <p:nvSpPr>
            <p:cNvPr id="296" name="Google Shape;296;p8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8"/>
            <p:cNvSpPr txBox="1"/>
            <p:nvPr/>
          </p:nvSpPr>
          <p:spPr>
            <a:xfrm>
              <a:off x="-2773" y="215875"/>
              <a:ext cx="698500" cy="5320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093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Implementar un sistema PIL para simular el comportamiento de la planta y el controlador.</a:t>
              </a:r>
              <a:endParaRPr sz="21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a1d52982f_1_0"/>
          <p:cNvSpPr/>
          <p:nvPr/>
        </p:nvSpPr>
        <p:spPr>
          <a:xfrm rot="10800000">
            <a:off x="-2592842" y="-4675726"/>
            <a:ext cx="7257062" cy="7364177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a1d52982f_1_0"/>
          <p:cNvSpPr/>
          <p:nvPr/>
        </p:nvSpPr>
        <p:spPr>
          <a:xfrm>
            <a:off x="7358811" y="4634558"/>
            <a:ext cx="7257062" cy="7364177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5" name="Google Shape;305;g3fa1d52982f_1_0"/>
          <p:cNvGrpSpPr/>
          <p:nvPr/>
        </p:nvGrpSpPr>
        <p:grpSpPr>
          <a:xfrm>
            <a:off x="-2201356" y="6386174"/>
            <a:ext cx="16048419" cy="2153587"/>
            <a:chOff x="0" y="-192881"/>
            <a:chExt cx="32096837" cy="4307175"/>
          </a:xfrm>
        </p:grpSpPr>
        <p:grpSp>
          <p:nvGrpSpPr>
            <p:cNvPr id="306" name="Google Shape;306;g3fa1d52982f_1_0"/>
            <p:cNvGrpSpPr/>
            <p:nvPr/>
          </p:nvGrpSpPr>
          <p:grpSpPr>
            <a:xfrm>
              <a:off x="0" y="-192881"/>
              <a:ext cx="32096837" cy="4307175"/>
              <a:chOff x="0" y="-38100"/>
              <a:chExt cx="6340116" cy="850800"/>
            </a:xfrm>
          </p:grpSpPr>
          <p:sp>
            <p:nvSpPr>
              <p:cNvPr id="307" name="Google Shape;307;g3fa1d52982f_1_0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g3fa1d52982f_1_0"/>
              <p:cNvSpPr txBox="1"/>
              <p:nvPr/>
            </p:nvSpPr>
            <p:spPr>
              <a:xfrm>
                <a:off x="0" y="-38100"/>
                <a:ext cx="812700" cy="85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9" name="Google Shape;309;g3fa1d52982f_1_0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156989" b="-1581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g3fa1d52982f_1_0"/>
          <p:cNvSpPr txBox="1"/>
          <p:nvPr/>
        </p:nvSpPr>
        <p:spPr>
          <a:xfrm>
            <a:off x="524557" y="490933"/>
            <a:ext cx="82269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3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</a:rPr>
              <a:t>Nuevo planteamiento</a:t>
            </a:r>
            <a:endParaRPr sz="40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g3fa1d52982f_1_0" title="Captura de pantalla 2026-09-04 1225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550" y="1621475"/>
            <a:ext cx="5305396" cy="296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fa1d52982f_1_0" title="Captura de pantalla 2026-09-04 12252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0679" y="1621478"/>
            <a:ext cx="4861425" cy="29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a1d52982f_2_0"/>
          <p:cNvSpPr/>
          <p:nvPr/>
        </p:nvSpPr>
        <p:spPr>
          <a:xfrm rot="10800000">
            <a:off x="-1873094" y="-1692305"/>
            <a:ext cx="6088322" cy="5709306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fa1d52982f_2_0"/>
          <p:cNvSpPr/>
          <p:nvPr/>
        </p:nvSpPr>
        <p:spPr>
          <a:xfrm>
            <a:off x="7358811" y="4634558"/>
            <a:ext cx="7257062" cy="7364177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" name="Google Shape;320;g3fa1d52982f_2_0"/>
          <p:cNvGrpSpPr/>
          <p:nvPr/>
        </p:nvGrpSpPr>
        <p:grpSpPr>
          <a:xfrm>
            <a:off x="-2201356" y="6386174"/>
            <a:ext cx="16048419" cy="2153587"/>
            <a:chOff x="0" y="-192881"/>
            <a:chExt cx="32096837" cy="4307175"/>
          </a:xfrm>
        </p:grpSpPr>
        <p:grpSp>
          <p:nvGrpSpPr>
            <p:cNvPr id="321" name="Google Shape;321;g3fa1d52982f_2_0"/>
            <p:cNvGrpSpPr/>
            <p:nvPr/>
          </p:nvGrpSpPr>
          <p:grpSpPr>
            <a:xfrm>
              <a:off x="0" y="-192881"/>
              <a:ext cx="32096837" cy="4307175"/>
              <a:chOff x="0" y="-38100"/>
              <a:chExt cx="6340116" cy="850800"/>
            </a:xfrm>
          </p:grpSpPr>
          <p:sp>
            <p:nvSpPr>
              <p:cNvPr id="322" name="Google Shape;322;g3fa1d52982f_2_0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g3fa1d52982f_2_0"/>
              <p:cNvSpPr txBox="1"/>
              <p:nvPr/>
            </p:nvSpPr>
            <p:spPr>
              <a:xfrm>
                <a:off x="0" y="-38100"/>
                <a:ext cx="812700" cy="85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4" name="Google Shape;324;g3fa1d52982f_2_0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156989" b="-1581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g3fa1d52982f_2_0"/>
          <p:cNvSpPr txBox="1"/>
          <p:nvPr/>
        </p:nvSpPr>
        <p:spPr>
          <a:xfrm>
            <a:off x="524557" y="490933"/>
            <a:ext cx="82269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3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</a:rPr>
              <a:t>Requerimientos de control</a:t>
            </a:r>
            <a:endParaRPr sz="40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fa1d52982f_2_0"/>
          <p:cNvSpPr txBox="1"/>
          <p:nvPr/>
        </p:nvSpPr>
        <p:spPr>
          <a:xfrm>
            <a:off x="753175" y="1440325"/>
            <a:ext cx="64890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3096" algn="l" rtl="0">
              <a:spcBef>
                <a:spcPts val="0"/>
              </a:spcBef>
              <a:spcAft>
                <a:spcPts val="0"/>
              </a:spcAft>
              <a:buClr>
                <a:srgbClr val="F0F9FA"/>
              </a:buClr>
              <a:buSzPts val="2433"/>
              <a:buFont typeface="Calibri"/>
              <a:buChar char="●"/>
            </a:pPr>
            <a:r>
              <a:rPr lang="en-US" sz="2433">
                <a:solidFill>
                  <a:srgbClr val="F0F9FA"/>
                </a:solidFill>
                <a:latin typeface="Calibri"/>
                <a:ea typeface="Calibri"/>
                <a:cs typeface="Calibri"/>
                <a:sym typeface="Calibri"/>
              </a:rPr>
              <a:t>Tiempo de estabilización: &lt; 2s</a:t>
            </a:r>
            <a:endParaRPr sz="2433">
              <a:solidFill>
                <a:srgbClr val="F0F9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3096" algn="l" rtl="0">
              <a:spcBef>
                <a:spcPts val="0"/>
              </a:spcBef>
              <a:spcAft>
                <a:spcPts val="0"/>
              </a:spcAft>
              <a:buClr>
                <a:srgbClr val="F0F9FA"/>
              </a:buClr>
              <a:buSzPts val="2433"/>
              <a:buFont typeface="Calibri"/>
              <a:buChar char="●"/>
            </a:pPr>
            <a:r>
              <a:rPr lang="en-US" sz="2433">
                <a:solidFill>
                  <a:srgbClr val="F0F9FA"/>
                </a:solidFill>
                <a:latin typeface="Calibri"/>
                <a:ea typeface="Calibri"/>
                <a:cs typeface="Calibri"/>
                <a:sym typeface="Calibri"/>
              </a:rPr>
              <a:t>Sobreimpulso maximo ⩽ 10%</a:t>
            </a:r>
            <a:endParaRPr sz="2433">
              <a:solidFill>
                <a:srgbClr val="F0F9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3096" algn="l" rtl="0">
              <a:spcBef>
                <a:spcPts val="0"/>
              </a:spcBef>
              <a:spcAft>
                <a:spcPts val="0"/>
              </a:spcAft>
              <a:buClr>
                <a:srgbClr val="F0F9FA"/>
              </a:buClr>
              <a:buSzPts val="2433"/>
              <a:buFont typeface="Calibri"/>
              <a:buChar char="●"/>
            </a:pPr>
            <a:r>
              <a:rPr lang="en-US" sz="2433">
                <a:solidFill>
                  <a:srgbClr val="F0F9FA"/>
                </a:solidFill>
                <a:latin typeface="Calibri"/>
                <a:ea typeface="Calibri"/>
                <a:cs typeface="Calibri"/>
                <a:sym typeface="Calibri"/>
              </a:rPr>
              <a:t>Error en régimen permanente &lt; 0.2°</a:t>
            </a:r>
            <a:endParaRPr sz="2433">
              <a:solidFill>
                <a:srgbClr val="F0F9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"/>
          <p:cNvSpPr/>
          <p:nvPr/>
        </p:nvSpPr>
        <p:spPr>
          <a:xfrm rot="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p17"/>
          <p:cNvGrpSpPr/>
          <p:nvPr/>
        </p:nvGrpSpPr>
        <p:grpSpPr>
          <a:xfrm>
            <a:off x="1388763" y="-132079"/>
            <a:ext cx="10803237" cy="6990080"/>
            <a:chOff x="-404981" y="-38100"/>
            <a:chExt cx="4438689" cy="2819191"/>
          </a:xfrm>
        </p:grpSpPr>
        <p:sp>
          <p:nvSpPr>
            <p:cNvPr id="334" name="Google Shape;334;p17"/>
            <p:cNvSpPr/>
            <p:nvPr/>
          </p:nvSpPr>
          <p:spPr>
            <a:xfrm>
              <a:off x="-404981" y="0"/>
              <a:ext cx="4438689" cy="2781091"/>
            </a:xfrm>
            <a:custGeom>
              <a:avLst/>
              <a:gdLst/>
              <a:ahLst/>
              <a:cxnLst/>
              <a:rect l="l" t="t" r="r" b="b"/>
              <a:pathLst>
                <a:path w="4033708" h="2781091" extrusionOk="0">
                  <a:moveTo>
                    <a:pt x="0" y="0"/>
                  </a:moveTo>
                  <a:lnTo>
                    <a:pt x="4033708" y="0"/>
                  </a:lnTo>
                  <a:lnTo>
                    <a:pt x="4033708" y="2781091"/>
                  </a:lnTo>
                  <a:lnTo>
                    <a:pt x="0" y="27810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7"/>
          <p:cNvSpPr/>
          <p:nvPr/>
        </p:nvSpPr>
        <p:spPr>
          <a:xfrm rot="-2625670">
            <a:off x="231709" y="378865"/>
            <a:ext cx="694823" cy="738191"/>
          </a:xfrm>
          <a:custGeom>
            <a:avLst/>
            <a:gdLst/>
            <a:ahLst/>
            <a:cxnLst/>
            <a:rect l="l" t="t" r="r" b="b"/>
            <a:pathLst>
              <a:path w="1042234" h="1107287" extrusionOk="0">
                <a:moveTo>
                  <a:pt x="0" y="0"/>
                </a:moveTo>
                <a:lnTo>
                  <a:pt x="1042234" y="0"/>
                </a:lnTo>
                <a:lnTo>
                  <a:pt x="1042234" y="1107287"/>
                </a:lnTo>
                <a:lnTo>
                  <a:pt x="0" y="1107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" name="Google Shape;337;p17"/>
          <p:cNvGrpSpPr/>
          <p:nvPr/>
        </p:nvGrpSpPr>
        <p:grpSpPr>
          <a:xfrm>
            <a:off x="-1928209" y="6366244"/>
            <a:ext cx="16048418" cy="2153835"/>
            <a:chOff x="0" y="-192881"/>
            <a:chExt cx="32096836" cy="4307669"/>
          </a:xfrm>
        </p:grpSpPr>
        <p:grpSp>
          <p:nvGrpSpPr>
            <p:cNvPr id="338" name="Google Shape;338;p17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339" name="Google Shape;339;p17"/>
              <p:cNvSpPr/>
              <p:nvPr/>
            </p:nvSpPr>
            <p:spPr>
              <a:xfrm>
                <a:off x="1838471" y="0"/>
                <a:ext cx="4501645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7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1" name="Google Shape;341;p17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" name="Google Shape;342;p17"/>
          <p:cNvSpPr txBox="1"/>
          <p:nvPr/>
        </p:nvSpPr>
        <p:spPr>
          <a:xfrm>
            <a:off x="-1103948" y="241099"/>
            <a:ext cx="8428074" cy="501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2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32D59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2400" b="1">
              <a:solidFill>
                <a:srgbClr val="032D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35162" y="1459525"/>
            <a:ext cx="4258113" cy="4258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54976" y="647631"/>
            <a:ext cx="3238038" cy="575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"/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 extrusionOk="0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 rot="-5400000">
            <a:off x="9806807" y="4486867"/>
            <a:ext cx="1251135" cy="1329227"/>
          </a:xfrm>
          <a:custGeom>
            <a:avLst/>
            <a:gdLst/>
            <a:ahLst/>
            <a:cxnLst/>
            <a:rect l="l" t="t" r="r" b="b"/>
            <a:pathLst>
              <a:path w="1876702" h="1993841" extrusionOk="0">
                <a:moveTo>
                  <a:pt x="0" y="0"/>
                </a:moveTo>
                <a:lnTo>
                  <a:pt x="1876702" y="0"/>
                </a:lnTo>
                <a:lnTo>
                  <a:pt x="1876702" y="1993841"/>
                </a:lnTo>
                <a:lnTo>
                  <a:pt x="0" y="19938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 txBox="1"/>
          <p:nvPr/>
        </p:nvSpPr>
        <p:spPr>
          <a:xfrm>
            <a:off x="1162411" y="1400000"/>
            <a:ext cx="10080339" cy="400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11344" marR="0" lvl="1" indent="-311344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32D59"/>
              </a:buClr>
              <a:buSzPts val="1442"/>
              <a:buFont typeface="Arial"/>
              <a:buNone/>
            </a:pPr>
            <a:r>
              <a:rPr lang="en-US" sz="1442" b="0" i="0" u="none" strike="noStrike" cap="none">
                <a:solidFill>
                  <a:srgbClr val="032D59"/>
                </a:solidFill>
                <a:latin typeface="Arial"/>
                <a:ea typeface="Arial"/>
                <a:cs typeface="Arial"/>
                <a:sym typeface="Arial"/>
              </a:rPr>
              <a:t>[1]	H. González y K. Guerrero, “Sistema de Control Activo para la Estabilización de la Plataforma MARLUP,” Instituto Tecnológico de Costa Rica, 2025.</a:t>
            </a:r>
            <a:endParaRPr/>
          </a:p>
          <a:p>
            <a:pPr marL="311344" marR="0" lvl="1" indent="-311344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32D59"/>
              </a:buClr>
              <a:buSzPts val="1442"/>
              <a:buFont typeface="Arial"/>
              <a:buNone/>
            </a:pPr>
            <a:r>
              <a:rPr lang="en-US" sz="1442" b="0" i="0" u="none" strike="noStrike" cap="none">
                <a:solidFill>
                  <a:srgbClr val="032D59"/>
                </a:solidFill>
                <a:latin typeface="Arial"/>
                <a:ea typeface="Arial"/>
                <a:cs typeface="Arial"/>
                <a:sym typeface="Arial"/>
              </a:rPr>
              <a:t>[2]	Á. Pérez Mora y W. Smith Hernández, “Avance Final — MARLUP: Control Stage 2,” Laboratorio de Control Automático, Instituto Tecnológico de Costa Rica, 2025.</a:t>
            </a:r>
            <a:endParaRPr/>
          </a:p>
          <a:p>
            <a:pPr marL="311344" marR="0" lvl="1" indent="-311344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32D59"/>
              </a:buClr>
              <a:buSzPts val="1442"/>
              <a:buFont typeface="Arial"/>
              <a:buNone/>
            </a:pPr>
            <a:r>
              <a:rPr lang="en-US" sz="1442" b="0" i="0" u="none" strike="noStrike" cap="none">
                <a:solidFill>
                  <a:srgbClr val="032D59"/>
                </a:solidFill>
                <a:latin typeface="Arial"/>
                <a:ea typeface="Arial"/>
                <a:cs typeface="Arial"/>
                <a:sym typeface="Arial"/>
              </a:rPr>
              <a:t>[3]	Instituto Geográfico Nacional, “Estado actual de los límites marítimos de Costa Rica,” Registro Nacional, Costa Rica. [En línea]. Disponible: https://www.rnpdigital.com/Estado%20Limites%20Maritimos%20de%20CR-IGN.pdf</a:t>
            </a:r>
            <a:endParaRPr/>
          </a:p>
          <a:p>
            <a:pPr marL="311344" marR="0" lvl="1" indent="-311344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32D59"/>
              </a:buClr>
              <a:buSzPts val="1442"/>
              <a:buFont typeface="Arial"/>
              <a:buNone/>
            </a:pPr>
            <a:r>
              <a:rPr lang="en-US" sz="1442" b="0" i="0" u="none" strike="noStrike" cap="none">
                <a:solidFill>
                  <a:srgbClr val="032D59"/>
                </a:solidFill>
                <a:latin typeface="Arial"/>
                <a:ea typeface="Arial"/>
                <a:cs typeface="Arial"/>
                <a:sym typeface="Arial"/>
              </a:rPr>
              <a:t>[4]	Sistema Nacional de Áreas de Conservación, “SINAC en Números: Informe anual de estadísticas SEMEC,” Costa Rica.</a:t>
            </a:r>
            <a:endParaRPr/>
          </a:p>
          <a:p>
            <a:pPr marL="311344" marR="0" lvl="1" indent="-311344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32D59"/>
              </a:buClr>
              <a:buSzPts val="1442"/>
              <a:buFont typeface="Arial"/>
              <a:buNone/>
            </a:pPr>
            <a:r>
              <a:rPr lang="en-US" sz="1442" b="0" i="0" u="none" strike="noStrike" cap="none">
                <a:solidFill>
                  <a:srgbClr val="032D59"/>
                </a:solidFill>
                <a:latin typeface="Arial"/>
                <a:ea typeface="Arial"/>
                <a:cs typeface="Arial"/>
                <a:sym typeface="Arial"/>
              </a:rPr>
              <a:t>[5]	Bosch Rexroth AG, “Hydraulic cylinder, mill type, series CDH1/CGH1,” Hoja de datos RE 17331, Lohr am Main, Alemania, 2005.</a:t>
            </a:r>
            <a:endParaRPr/>
          </a:p>
        </p:txBody>
      </p:sp>
      <p:grpSp>
        <p:nvGrpSpPr>
          <p:cNvPr id="352" name="Google Shape;352;p18"/>
          <p:cNvGrpSpPr/>
          <p:nvPr/>
        </p:nvGrpSpPr>
        <p:grpSpPr>
          <a:xfrm>
            <a:off x="-2201356" y="6386175"/>
            <a:ext cx="16048418" cy="2153837"/>
            <a:chOff x="0" y="-192881"/>
            <a:chExt cx="32096836" cy="4307669"/>
          </a:xfrm>
        </p:grpSpPr>
        <p:grpSp>
          <p:nvGrpSpPr>
            <p:cNvPr id="353" name="Google Shape;353;p18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354" name="Google Shape;354;p18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 extrusionOk="0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8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6" name="Google Shape;356;p18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 extrusionOk="0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156993" b="-1581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p18"/>
          <p:cNvSpPr txBox="1"/>
          <p:nvPr/>
        </p:nvSpPr>
        <p:spPr>
          <a:xfrm>
            <a:off x="579120" y="505339"/>
            <a:ext cx="8226757" cy="34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6">
                <a:solidFill>
                  <a:srgbClr val="032D59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"/>
          <p:cNvSpPr/>
          <p:nvPr/>
        </p:nvSpPr>
        <p:spPr>
          <a:xfrm>
            <a:off x="0" y="-1574108"/>
            <a:ext cx="12192000" cy="9275388"/>
          </a:xfrm>
          <a:custGeom>
            <a:avLst/>
            <a:gdLst/>
            <a:ahLst/>
            <a:cxnLst/>
            <a:rect l="l" t="t" r="r" b="b"/>
            <a:pathLst>
              <a:path w="18730371" h="18769474" extrusionOk="0">
                <a:moveTo>
                  <a:pt x="0" y="0"/>
                </a:moveTo>
                <a:lnTo>
                  <a:pt x="18730371" y="0"/>
                </a:lnTo>
                <a:lnTo>
                  <a:pt x="18730371" y="18769474"/>
                </a:lnTo>
                <a:lnTo>
                  <a:pt x="0" y="18769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83" t="-3160" r="-11881" b="-5466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3743985" y="2759244"/>
            <a:ext cx="4704000" cy="6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52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/>
          </a:p>
        </p:txBody>
      </p:sp>
      <p:grpSp>
        <p:nvGrpSpPr>
          <p:cNvPr id="364" name="Google Shape;364;p19"/>
          <p:cNvGrpSpPr/>
          <p:nvPr/>
        </p:nvGrpSpPr>
        <p:grpSpPr>
          <a:xfrm>
            <a:off x="-1123183" y="5664200"/>
            <a:ext cx="13315183" cy="2735766"/>
            <a:chOff x="0" y="-38100"/>
            <a:chExt cx="5783127" cy="850900"/>
          </a:xfrm>
        </p:grpSpPr>
        <p:sp>
          <p:nvSpPr>
            <p:cNvPr id="365" name="Google Shape;365;p19"/>
            <p:cNvSpPr/>
            <p:nvPr/>
          </p:nvSpPr>
          <p:spPr>
            <a:xfrm>
              <a:off x="326835" y="40139"/>
              <a:ext cx="5456292" cy="314008"/>
            </a:xfrm>
            <a:custGeom>
              <a:avLst/>
              <a:gdLst/>
              <a:ahLst/>
              <a:cxnLst/>
              <a:rect l="l" t="t" r="r" b="b"/>
              <a:pathLst>
                <a:path w="5783127" h="2561033" extrusionOk="0">
                  <a:moveTo>
                    <a:pt x="0" y="0"/>
                  </a:moveTo>
                  <a:lnTo>
                    <a:pt x="5783127" y="0"/>
                  </a:lnTo>
                  <a:lnTo>
                    <a:pt x="5783127" y="2561033"/>
                  </a:lnTo>
                  <a:lnTo>
                    <a:pt x="0" y="25610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511</Words>
  <Application>Microsoft Office PowerPoint</Application>
  <PresentationFormat>Panorámica</PresentationFormat>
  <Paragraphs>90</Paragraphs>
  <Slides>20</Slides>
  <Notes>20</Notes>
  <HiddenSlides>0</HiddenSlides>
  <MMClips>2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Amiko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AARON DAVID SALAS ALVARADO</dc:creator>
  <cp:lastModifiedBy>AARON DAVID SALAS ALVARADO</cp:lastModifiedBy>
  <cp:revision>2</cp:revision>
  <dcterms:created xsi:type="dcterms:W3CDTF">2026-08-16T21:11:15Z</dcterms:created>
  <dcterms:modified xsi:type="dcterms:W3CDTF">2026-09-04T19:44:43Z</dcterms:modified>
</cp:coreProperties>
</file>