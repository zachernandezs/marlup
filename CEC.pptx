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kv" ContentType="video/unknown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2" r:id="rId3"/>
  </p:sldMasterIdLst>
  <p:notesMasterIdLst>
    <p:notesMasterId r:id="rId25"/>
  </p:notesMasterIdLst>
  <p:sldIdLst>
    <p:sldId id="256" r:id="rId4"/>
    <p:sldId id="274" r:id="rId5"/>
    <p:sldId id="302" r:id="rId6"/>
    <p:sldId id="257" r:id="rId7"/>
    <p:sldId id="304" r:id="rId8"/>
    <p:sldId id="275" r:id="rId9"/>
    <p:sldId id="301" r:id="rId10"/>
    <p:sldId id="285" r:id="rId11"/>
    <p:sldId id="277" r:id="rId12"/>
    <p:sldId id="280" r:id="rId13"/>
    <p:sldId id="308" r:id="rId14"/>
    <p:sldId id="281" r:id="rId15"/>
    <p:sldId id="284" r:id="rId16"/>
    <p:sldId id="266" r:id="rId17"/>
    <p:sldId id="305" r:id="rId18"/>
    <p:sldId id="309" r:id="rId19"/>
    <p:sldId id="310" r:id="rId20"/>
    <p:sldId id="311" r:id="rId21"/>
    <p:sldId id="287" r:id="rId22"/>
    <p:sldId id="271" r:id="rId23"/>
    <p:sldId id="290" r:id="rId24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" dt="2026-08-29T20:18:35.042"/>
    <p1510:client id="{7F372604-8550-7823-737E-ED24B25C2031}" v="14" dt="2026-08-30T18:25:10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>
        <p:scale>
          <a:sx n="63" d="100"/>
          <a:sy n="63" d="100"/>
        </p:scale>
        <p:origin x="7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BA09705-E8F9-4120-8751-2ED35A71CA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8B7F14-26D2-4F9A-B752-5939B7DEC20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075D0-1210-4C82-9F7C-AF93F0C7481C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C9C30DC6-A1AC-43C5-8C1E-35BD1C4A6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BA51BB04-2F69-4C5A-9467-EB6B0E9C6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656B60-FF3A-4379-B722-D4B1F0D365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161F16-5D1C-4A1E-B85E-263371F1A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98886-A30D-47D0-90F7-25553242624C}" type="slidenum">
              <a:rPr lang="es-CR" smtClean="0"/>
              <a:t>‹Nº›</a:t>
            </a:fld>
            <a:endParaRPr lang="es-C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/>
              <a:t>Jorge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3A68A-D3C6-48D3-A891-D49978C7F1E4}" type="slidenum">
              <a:rPr kumimoji="0" lang="es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939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/>
              <a:t>Jorge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3A68A-D3C6-48D3-A891-D49978C7F1E4}" type="slidenum">
              <a:rPr kumimoji="0" lang="es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896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8E65C-4D68-289A-7A38-EDCC11AC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B67B7B-55F2-0116-9F5F-F46001CC1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3CE2647-3A54-D8B4-910F-8729EDE2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/>
              <a:t>Kaleb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660863-0345-7038-CA5B-7F8021D50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3A68A-D3C6-48D3-A891-D49978C7F1E4}" type="slidenum">
              <a:rPr kumimoji="0" lang="es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237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8E65C-4D68-289A-7A38-EDCC11AC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B67B7B-55F2-0116-9F5F-F46001CC1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3CE2647-3A54-D8B4-910F-8729EDE2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/>
              <a:t>Kaleb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660863-0345-7038-CA5B-7F8021D50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3A68A-D3C6-48D3-A891-D49978C7F1E4}" type="slidenum">
              <a:rPr kumimoji="0" lang="es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892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D313-C94E-C4AF-DCE3-3FC34386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DC4FBD-5DEB-6515-ABBC-2A4486162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D4C2EB-9E87-650A-45D6-422F3910F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/>
              <a:t>Kaleb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F72832-2DF3-C4B7-B0D7-7CF67FB50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3A68A-D3C6-48D3-A891-D49978C7F1E4}" type="slidenum">
              <a:rPr kumimoji="0" lang="es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240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6D0F-E72D-7E29-6815-7E57D608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181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8E65C-4D68-289A-7A38-EDCC11AC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B67B7B-55F2-0116-9F5F-F46001CC1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3CE2647-3A54-D8B4-910F-8729EDE2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/>
              <a:t>Kaleb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660863-0345-7038-CA5B-7F8021D50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3A68A-D3C6-48D3-A891-D49978C7F1E4}" type="slidenum">
              <a:rPr kumimoji="0" lang="es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62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/>
              <a:t>Jorge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3A68A-D3C6-48D3-A891-D49978C7F1E4}" type="slidenum">
              <a:rPr kumimoji="0" lang="es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818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/>
              <a:t>Jorge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3A68A-D3C6-48D3-A891-D49978C7F1E4}" type="slidenum">
              <a:rPr kumimoji="0" lang="es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570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60DD5-EC9D-F55E-A6FB-F136F5AD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E6F5B8-DFF5-4B4B-0260-59A930DE3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E3843B-C4A0-BF21-BC30-1B5B4F258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S" err="1"/>
              <a:t>Alvaro</a:t>
            </a:r>
            <a:endParaRPr lang="es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A0A6A6-378C-1122-BAE0-BC358BD39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3A68A-D3C6-48D3-A891-D49978C7F1E4}" type="slidenum">
              <a:rPr kumimoji="0" lang="es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77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6C286-57F0-4133-BD7E-C74381E28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2051BF-9CA7-4D94-B451-C2036425F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55310D-84A1-4725-A758-836FA92E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281144-5A6D-4DAE-9224-F25F2323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03EF06-F62E-46EB-8BC1-169DB2C3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9163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1EC51-A131-4DFC-B741-05A97436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163885-CE77-4D75-AE89-C01B46760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D1F614-3884-4E1F-8B42-D812DAE1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A78256-C475-4FB6-8873-2442975F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6DF14C-E7F3-4144-B118-4331501E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8086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E4129-BAD0-4F08-9768-A7A352F6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21D5E4-4CA1-4A69-91AF-54D1D75E3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52E8A6-598B-4AFE-85DE-C9F9C07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66A8AD-677A-411C-B517-1E0BECC3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FCC8DD-E411-4DB6-851B-999A1FD4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3747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8463B-E8FF-43E4-9CB6-2C3461FE6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A327EB-C2F7-4633-8C41-7968F44B3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AA591A-6A82-4745-8C10-997AA2A95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C101D9-6AEC-483C-9B98-574FD3DC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F60CA5A-DB93-4CDD-A4CF-6F8702BD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097FF8-A0C3-417C-882B-89425CE1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1893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468A6-EBFF-4B78-A705-CF37BB871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B52856-6FF9-4935-955F-007BEF370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6BF371-7977-43ED-871B-5FDBE48BC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B884203-75AF-459F-A6DC-CF180F8A2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76BFD29-65B2-46EF-8C85-1C79BF4E8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450E58F-BA9E-4331-B6BA-C81521DA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6FBEB9-9570-496D-8322-B16E27545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E36C745-CDC8-4423-B5C3-B087D54F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19988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3F97D-F180-4306-9294-3FDD6D49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29C29-C8D7-4818-AC09-7D9F3E2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15CEF-7DFB-499A-AA4A-3EEDE49D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3FC2D4-74A3-4C9B-9B43-00F1AD33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037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8DFC83-CFDB-4E4A-A46C-6D6AEFE45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075BBB9-5293-4B4C-8CE1-C81D824EF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42CEA0-E492-471E-B588-6DD4C7D0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73449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A9ED8-3C83-4126-9F72-20257F35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A24B12-8F6E-4DC2-BD12-0D26C3BD3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EE8249-8547-4381-8F67-ABDF990EE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EA6502-9C57-409B-8718-4972DDBF9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34063C-889A-4E2F-8CAB-F6626955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9AEC8C-8D13-460E-94C8-23C93558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6839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8681B-7EED-446A-8735-F87CDD3E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D4D638-AEDE-44A0-BFD6-FBC6BF509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FCD098-4C4D-403D-AD02-1025C8689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F64F01-84A5-4C31-81BA-96051844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4138EB-F787-4A44-98B1-ECB77D0B5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77F751-08B3-4B58-B221-FC1A879DD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0469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1A896-E883-4947-AF21-02CF5ABF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4F2486-CB14-4E84-A248-5A01D5DC3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668E29-28A0-4CE6-AA19-25A8A8DBF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95C753-8615-43B4-883E-98C9A6F1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4FF7D0-F1CD-4E18-AF13-C09B8B4A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94442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019CBB-1A1A-4823-A1BF-0ECB5898F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0E9F5F-3B4E-4E80-88A1-4B1774C74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BEC4C7-FE8E-424A-9953-C3014805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F58E2A-4859-4EF8-B7F4-216EC6739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0B3873-F121-46EF-BA5A-5DB0F840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51858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9/17/2026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47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630"/>
            <a:fld id="{5BA472A1-41CD-43E8-9C13-8B994CAE75F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9/17/2026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63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3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630"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980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C975E0A-649C-4604-9D2A-9172E9FCB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092BD5-2F1D-4A77-9232-466343C3E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D70769-47D6-4EB5-A624-D7CD45D5D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8A28C-A34F-4FE4-9D93-343D167820BE}" type="datetimeFigureOut">
              <a:rPr lang="es-CR" smtClean="0"/>
              <a:t>17/9/2026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96F5F8-F43D-4D87-991F-F07FCC86A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08DCEF-53CF-45F4-840F-C5C8A2868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25653-176F-4063-A235-5817394BE38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55755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A30CB-F2C1-49E5-8695-344D339F75A1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2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.jpe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9.svg"/><Relationship Id="rId11" Type="http://schemas.openxmlformats.org/officeDocument/2006/relationships/image" Target="../media/image14.jpeg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jpeg"/><Relationship Id="rId5" Type="http://schemas.openxmlformats.org/officeDocument/2006/relationships/image" Target="../media/image6.png"/><Relationship Id="rId10" Type="http://schemas.openxmlformats.org/officeDocument/2006/relationships/image" Target="../media/image18.jpg"/><Relationship Id="rId4" Type="http://schemas.openxmlformats.org/officeDocument/2006/relationships/image" Target="../media/image5.svg"/><Relationship Id="rId9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jpe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e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e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jpe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jpe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jpeg"/><Relationship Id="rId5" Type="http://schemas.openxmlformats.org/officeDocument/2006/relationships/image" Target="../media/image3.jpeg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jpeg"/><Relationship Id="rId5" Type="http://schemas.openxmlformats.org/officeDocument/2006/relationships/image" Target="../media/image26.jpe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.svg"/><Relationship Id="rId7" Type="http://schemas.openxmlformats.org/officeDocument/2006/relationships/image" Target="../media/image2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jpe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jpeg"/><Relationship Id="rId5" Type="http://schemas.openxmlformats.org/officeDocument/2006/relationships/image" Target="../media/image30.jpeg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.svg"/><Relationship Id="rId7" Type="http://schemas.openxmlformats.org/officeDocument/2006/relationships/image" Target="../media/image3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jpe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.jpeg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e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microsoft.com/office/2007/relationships/media" Target="../media/media4.mp4"/><Relationship Id="rId7" Type="http://schemas.openxmlformats.org/officeDocument/2006/relationships/image" Target="../media/image1.png"/><Relationship Id="rId12" Type="http://schemas.openxmlformats.org/officeDocument/2006/relationships/image" Target="../media/image37.jpeg"/><Relationship Id="rId2" Type="http://schemas.microsoft.com/office/2007/relationships/media" Target="../media/media3.mkv"/><Relationship Id="rId1" Type="http://schemas.openxmlformats.org/officeDocument/2006/relationships/video" Target="NULL" TargetMode="External"/><Relationship Id="rId6" Type="http://schemas.openxmlformats.org/officeDocument/2006/relationships/notesSlide" Target="../notesSlides/notesSlide15.xml"/><Relationship Id="rId11" Type="http://schemas.openxmlformats.org/officeDocument/2006/relationships/image" Target="../media/image36.jpe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jpeg"/><Relationship Id="rId4" Type="http://schemas.openxmlformats.org/officeDocument/2006/relationships/video" Target="../media/media4.mp4"/><Relationship Id="rId9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0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61762" y="3925121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2201356" y="6482615"/>
            <a:ext cx="16048418" cy="419835"/>
            <a:chOff x="0" y="0"/>
            <a:chExt cx="6340116" cy="1658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40116" cy="165861"/>
            </a:xfrm>
            <a:custGeom>
              <a:avLst/>
              <a:gdLst/>
              <a:ahLst/>
              <a:cxnLst/>
              <a:rect l="l" t="t" r="r" b="b"/>
              <a:pathLst>
                <a:path w="6340116" h="165861">
                  <a:moveTo>
                    <a:pt x="0" y="0"/>
                  </a:moveTo>
                  <a:lnTo>
                    <a:pt x="6340116" y="0"/>
                  </a:lnTo>
                  <a:lnTo>
                    <a:pt x="6340116" y="165861"/>
                  </a:lnTo>
                  <a:lnTo>
                    <a:pt x="0" y="1658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121" y="6482616"/>
            <a:ext cx="1597285" cy="384743"/>
          </a:xfrm>
          <a:custGeom>
            <a:avLst/>
            <a:gdLst/>
            <a:ahLst/>
            <a:cxnLst/>
            <a:rect l="l" t="t" r="r" b="b"/>
            <a:pathLst>
              <a:path w="2395928" h="577115">
                <a:moveTo>
                  <a:pt x="0" y="0"/>
                </a:moveTo>
                <a:lnTo>
                  <a:pt x="2395928" y="0"/>
                </a:lnTo>
                <a:lnTo>
                  <a:pt x="2395928" y="577115"/>
                </a:lnTo>
                <a:lnTo>
                  <a:pt x="0" y="577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6990" b="-158165"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977692" y="1254311"/>
            <a:ext cx="3665625" cy="3672970"/>
          </a:xfrm>
          <a:custGeom>
            <a:avLst/>
            <a:gdLst/>
            <a:ahLst/>
            <a:cxnLst/>
            <a:rect l="l" t="t" r="r" b="b"/>
            <a:pathLst>
              <a:path w="3174540" h="3180901">
                <a:moveTo>
                  <a:pt x="0" y="0"/>
                </a:moveTo>
                <a:lnTo>
                  <a:pt x="3174540" y="0"/>
                </a:lnTo>
                <a:lnTo>
                  <a:pt x="3174540" y="3180901"/>
                </a:lnTo>
                <a:lnTo>
                  <a:pt x="0" y="31809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1185" y="889883"/>
            <a:ext cx="5504267" cy="264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spcBef>
                <a:spcPct val="0"/>
              </a:spcBef>
            </a:pPr>
            <a:r>
              <a:rPr lang="en-US" sz="8595" dirty="0">
                <a:solidFill>
                  <a:srgbClr val="F0F9FA"/>
                </a:solidFill>
                <a:latin typeface="Garet Bold"/>
              </a:rPr>
              <a:t>MARLUP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7866" y="3516357"/>
            <a:ext cx="3299379" cy="363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130"/>
              </a:lnSpc>
              <a:spcBef>
                <a:spcPct val="0"/>
              </a:spcBef>
            </a:pPr>
            <a:r>
              <a:rPr lang="en-US" sz="2235" dirty="0">
                <a:solidFill>
                  <a:srgbClr val="F0F9FA"/>
                </a:solidFill>
                <a:latin typeface="Garet"/>
              </a:rPr>
              <a:t>AD ASTRA IN MARIS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1185" y="4083950"/>
            <a:ext cx="4944549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801"/>
              </a:lnSpc>
            </a:pPr>
            <a:r>
              <a:rPr lang="en-US" sz="2334" dirty="0" err="1">
                <a:solidFill>
                  <a:srgbClr val="FFFFFF"/>
                </a:solidFill>
                <a:latin typeface="Garet Bold"/>
              </a:rPr>
              <a:t>Gemelo</a:t>
            </a:r>
            <a:r>
              <a:rPr lang="en-US" sz="2334" dirty="0">
                <a:solidFill>
                  <a:srgbClr val="FFFFFF"/>
                </a:solidFill>
                <a:latin typeface="Garet Bold"/>
              </a:rPr>
              <a:t> digital y </a:t>
            </a:r>
            <a:r>
              <a:rPr lang="en-US" sz="2334" dirty="0" err="1">
                <a:solidFill>
                  <a:srgbClr val="FFFFFF"/>
                </a:solidFill>
                <a:latin typeface="Garet Bold"/>
              </a:rPr>
              <a:t>controladores</a:t>
            </a:r>
            <a:r>
              <a:rPr lang="en-US" sz="2334" dirty="0">
                <a:solidFill>
                  <a:srgbClr val="FFFFFF"/>
                </a:solidFill>
                <a:latin typeface="Garet Bold"/>
              </a:rPr>
              <a:t> de una Plataforma de </a:t>
            </a:r>
            <a:r>
              <a:rPr lang="en-US" sz="2334" dirty="0" err="1">
                <a:solidFill>
                  <a:srgbClr val="FFFFFF"/>
                </a:solidFill>
                <a:latin typeface="Garet Bold"/>
              </a:rPr>
              <a:t>lanzamiento</a:t>
            </a:r>
            <a:r>
              <a:rPr lang="en-US" sz="2334" dirty="0">
                <a:solidFill>
                  <a:srgbClr val="FFFFFF"/>
                </a:solidFill>
                <a:latin typeface="Garet Bold"/>
              </a:rPr>
              <a:t> maritima para </a:t>
            </a:r>
            <a:r>
              <a:rPr lang="en-US" sz="2334" dirty="0" err="1">
                <a:solidFill>
                  <a:srgbClr val="FFFFFF"/>
                </a:solidFill>
                <a:latin typeface="Garet Bold"/>
              </a:rPr>
              <a:t>cohetes</a:t>
            </a:r>
            <a:r>
              <a:rPr lang="en-US" sz="2334" dirty="0">
                <a:solidFill>
                  <a:srgbClr val="FFFFFF"/>
                </a:solidFill>
                <a:latin typeface="Garet Bold"/>
              </a:rPr>
              <a:t> de </a:t>
            </a:r>
            <a:r>
              <a:rPr lang="en-US" sz="2334" dirty="0" err="1">
                <a:solidFill>
                  <a:srgbClr val="FFFFFF"/>
                </a:solidFill>
                <a:latin typeface="Garet Bold"/>
              </a:rPr>
              <a:t>baja</a:t>
            </a:r>
            <a:r>
              <a:rPr lang="en-US" sz="2334" dirty="0">
                <a:solidFill>
                  <a:srgbClr val="FFFFFF"/>
                </a:solidFill>
                <a:latin typeface="Garet Bold"/>
              </a:rPr>
              <a:t> </a:t>
            </a:r>
            <a:r>
              <a:rPr lang="en-US" sz="2334" dirty="0" err="1">
                <a:solidFill>
                  <a:srgbClr val="FFFFFF"/>
                </a:solidFill>
                <a:latin typeface="Garet Bold"/>
              </a:rPr>
              <a:t>potencia</a:t>
            </a:r>
            <a:endParaRPr lang="en-US" sz="2334" dirty="0">
              <a:solidFill>
                <a:srgbClr val="FFFFFF"/>
              </a:solidFill>
              <a:latin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3292057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48296" y="-86628"/>
            <a:ext cx="9753600" cy="7142239"/>
            <a:chOff x="0" y="-38100"/>
            <a:chExt cx="4033708" cy="2819191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033708" cy="2781091"/>
            </a:xfrm>
            <a:custGeom>
              <a:avLst/>
              <a:gdLst/>
              <a:ahLst/>
              <a:cxnLst/>
              <a:rect l="l" t="t" r="r" b="b"/>
              <a:pathLst>
                <a:path w="4033708" h="2781091">
                  <a:moveTo>
                    <a:pt x="0" y="0"/>
                  </a:moveTo>
                  <a:lnTo>
                    <a:pt x="4033708" y="0"/>
                  </a:lnTo>
                  <a:lnTo>
                    <a:pt x="403370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7608230" y="5262919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6"/>
          <p:cNvSpPr/>
          <p:nvPr/>
        </p:nvSpPr>
        <p:spPr>
          <a:xfrm rot="-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Freeform 7"/>
          <p:cNvSpPr/>
          <p:nvPr/>
        </p:nvSpPr>
        <p:spPr>
          <a:xfrm rot="-2625670">
            <a:off x="792287" y="5510221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844464" y="6236069"/>
            <a:ext cx="13036463" cy="3352383"/>
            <a:chOff x="0" y="-38100"/>
            <a:chExt cx="5593794" cy="850900"/>
          </a:xfrm>
        </p:grpSpPr>
        <p:sp>
          <p:nvSpPr>
            <p:cNvPr id="10" name="Freeform 10"/>
            <p:cNvSpPr/>
            <p:nvPr/>
          </p:nvSpPr>
          <p:spPr>
            <a:xfrm>
              <a:off x="1408638" y="0"/>
              <a:ext cx="4185156" cy="165861"/>
            </a:xfrm>
            <a:custGeom>
              <a:avLst/>
              <a:gdLst/>
              <a:ahLst/>
              <a:cxnLst/>
              <a:rect l="l" t="t" r="r" b="b"/>
              <a:pathLst>
                <a:path w="6340116" h="165861">
                  <a:moveTo>
                    <a:pt x="0" y="0"/>
                  </a:moveTo>
                  <a:lnTo>
                    <a:pt x="6340116" y="0"/>
                  </a:lnTo>
                  <a:lnTo>
                    <a:pt x="6340116" y="165861"/>
                  </a:lnTo>
                  <a:lnTo>
                    <a:pt x="0" y="1658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97727" y="555205"/>
            <a:ext cx="1683947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432"/>
              </a:lnSpc>
            </a:pPr>
            <a:r>
              <a:rPr lang="en-US" sz="2859" dirty="0">
                <a:solidFill>
                  <a:srgbClr val="FFFFFF"/>
                </a:solidFill>
                <a:latin typeface="Garet Bold"/>
              </a:rPr>
              <a:t>¿</a:t>
            </a:r>
            <a:r>
              <a:rPr lang="en-US" sz="2859" dirty="0" err="1">
                <a:solidFill>
                  <a:srgbClr val="FFFFFF"/>
                </a:solidFill>
                <a:latin typeface="Garet Bold"/>
              </a:rPr>
              <a:t>Desde</a:t>
            </a:r>
            <a:r>
              <a:rPr lang="en-US" sz="2859" dirty="0">
                <a:solidFill>
                  <a:srgbClr val="FFFFFF"/>
                </a:solidFill>
                <a:latin typeface="Garet Bold"/>
              </a:rPr>
              <a:t> </a:t>
            </a:r>
          </a:p>
          <a:p>
            <a:pPr algn="ctr" defTabSz="609630">
              <a:lnSpc>
                <a:spcPts val="3432"/>
              </a:lnSpc>
            </a:pPr>
            <a:r>
              <a:rPr lang="en-US" sz="2859" dirty="0">
                <a:solidFill>
                  <a:srgbClr val="FFFFFF"/>
                </a:solidFill>
                <a:latin typeface="Garet Bold"/>
              </a:rPr>
              <a:t>Tierra?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89476" y="2509139"/>
            <a:ext cx="3837491" cy="1016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9303" lvl="1" indent="-204652" algn="just" defTabSz="609630">
              <a:lnSpc>
                <a:spcPts val="2653"/>
              </a:lnSpc>
              <a:buFont typeface="Arial"/>
              <a:buChar char="•"/>
            </a:pPr>
            <a:r>
              <a:rPr lang="es-CR" sz="1895" dirty="0">
                <a:solidFill>
                  <a:srgbClr val="032D59"/>
                </a:solidFill>
                <a:latin typeface="Amiko Bold"/>
              </a:rPr>
              <a:t>Zonas aéreas restringida </a:t>
            </a:r>
          </a:p>
          <a:p>
            <a:pPr marL="409303" lvl="1" indent="-204652" algn="just" defTabSz="609630">
              <a:lnSpc>
                <a:spcPts val="2653"/>
              </a:lnSpc>
              <a:buFont typeface="Arial"/>
              <a:buChar char="•"/>
            </a:pPr>
            <a:r>
              <a:rPr lang="es-CR" sz="1895" dirty="0">
                <a:solidFill>
                  <a:srgbClr val="032D59"/>
                </a:solidFill>
                <a:latin typeface="Amiko Bold"/>
              </a:rPr>
              <a:t>≈26% de la superficie terrestre es área silvestre protegida. [4]</a:t>
            </a:r>
          </a:p>
        </p:txBody>
      </p:sp>
      <p:pic>
        <p:nvPicPr>
          <p:cNvPr id="17" name="Imagen 16" descr="Mapa&#10;&#10;Descripción generada automáticamente">
            <a:extLst>
              <a:ext uri="{FF2B5EF4-FFF2-40B4-BE49-F238E27FC236}">
                <a16:creationId xmlns:a16="http://schemas.microsoft.com/office/drawing/2014/main" id="{AE69A6A5-6C12-90D6-E47E-4C8A4449AA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428" y="481491"/>
            <a:ext cx="5350845" cy="5863939"/>
          </a:xfrm>
          <a:prstGeom prst="rect">
            <a:avLst/>
          </a:prstGeom>
        </p:spPr>
      </p:pic>
      <p:grpSp>
        <p:nvGrpSpPr>
          <p:cNvPr id="20" name="Group 8">
            <a:extLst>
              <a:ext uri="{FF2B5EF4-FFF2-40B4-BE49-F238E27FC236}">
                <a16:creationId xmlns:a16="http://schemas.microsoft.com/office/drawing/2014/main" id="{36F8D288-F4F1-D2C5-BD28-CEC45A920E64}"/>
              </a:ext>
            </a:extLst>
          </p:cNvPr>
          <p:cNvGrpSpPr/>
          <p:nvPr/>
        </p:nvGrpSpPr>
        <p:grpSpPr>
          <a:xfrm>
            <a:off x="-2201356" y="6386175"/>
            <a:ext cx="16048418" cy="2153835"/>
            <a:chOff x="0" y="-192881"/>
            <a:chExt cx="32096836" cy="4307669"/>
          </a:xfrm>
        </p:grpSpPr>
        <p:grpSp>
          <p:nvGrpSpPr>
            <p:cNvPr id="21" name="Group 9">
              <a:extLst>
                <a:ext uri="{FF2B5EF4-FFF2-40B4-BE49-F238E27FC236}">
                  <a16:creationId xmlns:a16="http://schemas.microsoft.com/office/drawing/2014/main" id="{5980663E-4BF7-5607-F4D3-4CEF01D86430}"/>
                </a:ext>
              </a:extLst>
            </p:cNvPr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23" name="Freeform 10">
                <a:extLst>
                  <a:ext uri="{FF2B5EF4-FFF2-40B4-BE49-F238E27FC236}">
                    <a16:creationId xmlns:a16="http://schemas.microsoft.com/office/drawing/2014/main" id="{7138438C-E985-653A-30D5-D02CE0C314EC}"/>
                  </a:ext>
                </a:extLst>
              </p:cNvPr>
              <p:cNvSpPr/>
              <p:nvPr/>
            </p:nvSpPr>
            <p:spPr>
              <a:xfrm>
                <a:off x="1838471" y="0"/>
                <a:ext cx="4501645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4" name="TextBox 11">
                <a:extLst>
                  <a:ext uri="{FF2B5EF4-FFF2-40B4-BE49-F238E27FC236}">
                    <a16:creationId xmlns:a16="http://schemas.microsoft.com/office/drawing/2014/main" id="{2A527978-E91B-4ED5-3F99-308E544378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17712706-AC7D-8623-A64D-11679B52237E}"/>
                </a:ext>
              </a:extLst>
            </p:cNvPr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90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528382">
            <a:off x="-1752848" y="-438609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1928714" y="6440671"/>
            <a:ext cx="16048418" cy="419835"/>
            <a:chOff x="0" y="0"/>
            <a:chExt cx="32096836" cy="839669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" name="Freeform 23"/>
          <p:cNvSpPr/>
          <p:nvPr/>
        </p:nvSpPr>
        <p:spPr>
          <a:xfrm rot="16962522">
            <a:off x="6941927" y="256097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WhatsApp Video 2026-08-17 at 10.40.41 AM">
            <a:hlinkClick r:id="" action="ppaction://media"/>
            <a:extLst>
              <a:ext uri="{FF2B5EF4-FFF2-40B4-BE49-F238E27FC236}">
                <a16:creationId xmlns:a16="http://schemas.microsoft.com/office/drawing/2014/main" id="{2B485A60-A096-48F9-B8E4-1AEC7E0EDA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8"/>
          <a:srcRect t="-202"/>
          <a:stretch/>
        </p:blipFill>
        <p:spPr>
          <a:xfrm>
            <a:off x="842760" y="-3529789"/>
            <a:ext cx="5597022" cy="99704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00000" y="1750000"/>
            <a:ext cx="455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dirty="0">
                <a:solidFill>
                  <a:srgbClr val="FFFFFF"/>
                </a:solidFill>
                <a:latin typeface="Garet Bold"/>
              </a:rPr>
              <a:t>LO QUE HOY SE</a:t>
            </a:r>
          </a:p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FFFFFF"/>
                </a:solidFill>
                <a:latin typeface="Garet Bold"/>
              </a:rPr>
              <a:t>PUEDE PROBAR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0000" y="3350000"/>
            <a:ext cx="455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 err="1">
                <a:solidFill>
                  <a:srgbClr val="FFFFFF"/>
                </a:solidFill>
                <a:latin typeface="Amiko Bold"/>
              </a:rPr>
              <a:t>Cohetería</a:t>
            </a:r>
            <a:r>
              <a:rPr sz="1600" b="1" dirty="0">
                <a:solidFill>
                  <a:srgbClr val="FFFFFF"/>
                </a:solidFill>
                <a:latin typeface="Amiko Bold"/>
              </a:rPr>
              <a:t> de </a:t>
            </a:r>
            <a:r>
              <a:rPr sz="1600" b="1" dirty="0" err="1">
                <a:solidFill>
                  <a:srgbClr val="FFFFFF"/>
                </a:solidFill>
                <a:latin typeface="Amiko Bold"/>
              </a:rPr>
              <a:t>baja</a:t>
            </a:r>
            <a:r>
              <a:rPr sz="1600" b="1" dirty="0">
                <a:solidFill>
                  <a:srgbClr val="FFFFFF"/>
                </a:solidFill>
                <a:latin typeface="Amiko Bold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miko Bold"/>
              </a:rPr>
              <a:t>potencia</a:t>
            </a:r>
            <a:endParaRPr sz="1600" b="1" dirty="0">
              <a:solidFill>
                <a:srgbClr val="FFFFFF"/>
              </a:solidFill>
              <a:latin typeface="Amiko 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00000" y="5450000"/>
            <a:ext cx="45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8C4DC"/>
                </a:solidFill>
                <a:latin typeface="Amiko Bold"/>
              </a:rPr>
              <a:t>Video: Asociación Costarricense de Cohetería</a:t>
            </a:r>
          </a:p>
        </p:txBody>
      </p:sp>
    </p:spTree>
    <p:extLst>
      <p:ext uri="{BB962C8B-B14F-4D97-AF65-F5344CB8AC3E}">
        <p14:creationId xmlns:p14="http://schemas.microsoft.com/office/powerpoint/2010/main" val="186273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6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528382">
            <a:off x="-1752848" y="-438609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1928714" y="6440671"/>
            <a:ext cx="16048418" cy="419835"/>
            <a:chOff x="0" y="0"/>
            <a:chExt cx="32096836" cy="839669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" name="Freeform 23"/>
          <p:cNvSpPr/>
          <p:nvPr/>
        </p:nvSpPr>
        <p:spPr>
          <a:xfrm rot="16962522">
            <a:off x="6941927" y="256097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WhatsApp Video 2026-08-17 at 10.40.39 AM">
            <a:hlinkClick r:id="" action="ppaction://media"/>
            <a:extLst>
              <a:ext uri="{FF2B5EF4-FFF2-40B4-BE49-F238E27FC236}">
                <a16:creationId xmlns:a16="http://schemas.microsoft.com/office/drawing/2014/main" id="{464B3815-DF74-4896-9B5D-8F72BA52117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517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56714" y="1331140"/>
            <a:ext cx="6917191" cy="3890920"/>
          </a:xfrm>
          <a:prstGeom prst="rect">
            <a:avLst/>
          </a:prstGeom>
        </p:spPr>
      </p:pic>
      <p:sp>
        <p:nvSpPr>
          <p:cNvPr id="14" name="AutoShape 2">
            <a:extLst>
              <a:ext uri="{FF2B5EF4-FFF2-40B4-BE49-F238E27FC236}">
                <a16:creationId xmlns:a16="http://schemas.microsoft.com/office/drawing/2014/main" id="{E5597522-220C-401C-AB04-F04359FBD5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7F33EDC-6A30-484F-950B-AAC29020A8F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0659" t="12613" r="2526" b="8922"/>
          <a:stretch/>
        </p:blipFill>
        <p:spPr>
          <a:xfrm>
            <a:off x="7913586" y="429789"/>
            <a:ext cx="1980188" cy="269698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65CA17D6-00A9-4E4F-B28B-13C4E94D6E3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5703" t="10210" r="24430" b="13586"/>
          <a:stretch/>
        </p:blipFill>
        <p:spPr>
          <a:xfrm>
            <a:off x="10013052" y="417103"/>
            <a:ext cx="1336101" cy="2722362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82427E4A-FED6-4266-BF83-B31A7E8B93E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7651" b="3080"/>
          <a:stretch/>
        </p:blipFill>
        <p:spPr>
          <a:xfrm>
            <a:off x="7913586" y="3276600"/>
            <a:ext cx="2484288" cy="262569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6714" y="330000"/>
            <a:ext cx="7000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  <a:latin typeface="Garet Bold"/>
              </a:rPr>
              <a:t>LO QUE YA </a:t>
            </a:r>
            <a:r>
              <a:rPr lang="es-CR" sz="2800" b="1" dirty="0">
                <a:solidFill>
                  <a:srgbClr val="FFFFFF"/>
                </a:solidFill>
                <a:latin typeface="Garet Bold"/>
              </a:rPr>
              <a:t>SE PUEDE </a:t>
            </a:r>
            <a:r>
              <a:rPr sz="2800" b="1" dirty="0">
                <a:solidFill>
                  <a:srgbClr val="FFFFFF"/>
                </a:solidFill>
                <a:latin typeface="Garet Bold"/>
              </a:rPr>
              <a:t>CONSTRUIR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714" y="5420000"/>
            <a:ext cx="6917191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 err="1">
                <a:solidFill>
                  <a:srgbClr val="FFFFFF"/>
                </a:solidFill>
                <a:latin typeface="Amiko Bold"/>
              </a:rPr>
              <a:t>Encendido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estático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 de un motor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mucho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más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potente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, en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el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mismo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evento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. La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capacidad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existe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;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el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 sitio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donde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miko Bold"/>
              </a:rPr>
              <a:t>probarla</a:t>
            </a:r>
            <a:r>
              <a:rPr sz="1500" b="1" dirty="0">
                <a:solidFill>
                  <a:srgbClr val="FFFFFF"/>
                </a:solidFill>
                <a:latin typeface="Amiko Bold"/>
              </a:rPr>
              <a:t>, no.</a:t>
            </a:r>
          </a:p>
        </p:txBody>
      </p:sp>
    </p:spTree>
    <p:extLst>
      <p:ext uri="{BB962C8B-B14F-4D97-AF65-F5344CB8AC3E}">
        <p14:creationId xmlns:p14="http://schemas.microsoft.com/office/powerpoint/2010/main" val="272985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2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E29EC-FBB7-BAFE-F747-A71925B3A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89B18A-6352-BF7E-AF89-C101014B59F7}"/>
              </a:ext>
            </a:extLst>
          </p:cNvPr>
          <p:cNvSpPr/>
          <p:nvPr/>
        </p:nvSpPr>
        <p:spPr>
          <a:xfrm rot="-10800000">
            <a:off x="7127040" y="-4555207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2D71D7D-CF15-4619-6278-E53E29DA0BED}"/>
              </a:ext>
            </a:extLst>
          </p:cNvPr>
          <p:cNvSpPr/>
          <p:nvPr/>
        </p:nvSpPr>
        <p:spPr>
          <a:xfrm>
            <a:off x="-2683041" y="4270951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4A82D4E-3427-E8A4-3E33-4F7FE84BDE47}"/>
              </a:ext>
            </a:extLst>
          </p:cNvPr>
          <p:cNvSpPr/>
          <p:nvPr/>
        </p:nvSpPr>
        <p:spPr>
          <a:xfrm rot="19180040">
            <a:off x="11179828" y="5089357"/>
            <a:ext cx="873529" cy="928053"/>
          </a:xfrm>
          <a:custGeom>
            <a:avLst/>
            <a:gdLst/>
            <a:ahLst/>
            <a:cxnLst/>
            <a:rect l="l" t="t" r="r" b="b"/>
            <a:pathLst>
              <a:path w="1310294" h="1392079">
                <a:moveTo>
                  <a:pt x="0" y="0"/>
                </a:moveTo>
                <a:lnTo>
                  <a:pt x="1310294" y="0"/>
                </a:lnTo>
                <a:lnTo>
                  <a:pt x="1310294" y="1392078"/>
                </a:lnTo>
                <a:lnTo>
                  <a:pt x="0" y="1392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CFA44D3-0F50-B961-FEFB-535AFE99AA42}"/>
              </a:ext>
            </a:extLst>
          </p:cNvPr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C81179F-0076-83DB-55EB-2E7073CE9447}"/>
                </a:ext>
              </a:extLst>
            </p:cNvPr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CD11048F-C532-3D28-A625-2B4DDD773775}"/>
                  </a:ext>
                </a:extLst>
              </p:cNvPr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43A15DF9-4BEE-B444-5C50-BE5C254E766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D2D561A-F8F8-AC38-2D59-9F5CAE86CBC4}"/>
                </a:ext>
              </a:extLst>
            </p:cNvPr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05DBD687-CEC5-4655-A3F9-EAD51B828A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19836"/>
            <a:ext cx="3426136" cy="256960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AC41B7C-2BBF-45A0-9A7D-DBDA84E005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2" y="419836"/>
            <a:ext cx="4851398" cy="32342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BF19F47-5ABD-4ABC-9B7C-BF88674FE8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00516"/>
            <a:ext cx="4606531" cy="30710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99642B2-EB3E-4F07-BAEB-744C5D5D8C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867" y="3891240"/>
            <a:ext cx="2808093" cy="238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7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52274" y="-137185"/>
            <a:ext cx="10210325" cy="7039635"/>
            <a:chOff x="0" y="0"/>
            <a:chExt cx="4033708" cy="27810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33708" cy="2781091"/>
            </a:xfrm>
            <a:custGeom>
              <a:avLst/>
              <a:gdLst/>
              <a:ahLst/>
              <a:cxnLst/>
              <a:rect l="l" t="t" r="r" b="b"/>
              <a:pathLst>
                <a:path w="4033708" h="2781091">
                  <a:moveTo>
                    <a:pt x="0" y="0"/>
                  </a:moveTo>
                  <a:lnTo>
                    <a:pt x="4033708" y="0"/>
                  </a:lnTo>
                  <a:lnTo>
                    <a:pt x="403370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-2332285" y="-4570091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6"/>
          <p:cNvSpPr/>
          <p:nvPr/>
        </p:nvSpPr>
        <p:spPr>
          <a:xfrm rot="-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-2201356" y="6386175"/>
            <a:ext cx="16048418" cy="2153835"/>
            <a:chOff x="0" y="-192881"/>
            <a:chExt cx="32096836" cy="430766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838471" y="0"/>
                <a:ext cx="4501645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5670" y="407277"/>
            <a:ext cx="2096978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432"/>
              </a:lnSpc>
            </a:pPr>
            <a:r>
              <a:rPr lang="en-US" sz="2859" dirty="0">
                <a:solidFill>
                  <a:srgbClr val="FFFFFF"/>
                </a:solidFill>
                <a:latin typeface="Garet Bold"/>
              </a:rPr>
              <a:t>¿</a:t>
            </a:r>
            <a:r>
              <a:rPr lang="en-US" sz="2859" dirty="0" err="1">
                <a:solidFill>
                  <a:srgbClr val="FFFFFF"/>
                </a:solidFill>
                <a:latin typeface="Garet Bold"/>
              </a:rPr>
              <a:t>Desde</a:t>
            </a:r>
            <a:r>
              <a:rPr lang="en-US" sz="2859" dirty="0">
                <a:solidFill>
                  <a:srgbClr val="FFFFFF"/>
                </a:solidFill>
                <a:latin typeface="Garet Bold"/>
              </a:rPr>
              <a:t> </a:t>
            </a:r>
            <a:r>
              <a:rPr lang="en-US" sz="2859" dirty="0" err="1">
                <a:solidFill>
                  <a:srgbClr val="FFFFFF"/>
                </a:solidFill>
                <a:latin typeface="Garet Bold"/>
              </a:rPr>
              <a:t>el</a:t>
            </a:r>
            <a:r>
              <a:rPr lang="en-US" sz="2859" dirty="0">
                <a:solidFill>
                  <a:srgbClr val="FFFFFF"/>
                </a:solidFill>
                <a:latin typeface="Garet Bold"/>
              </a:rPr>
              <a:t> </a:t>
            </a:r>
          </a:p>
          <a:p>
            <a:pPr algn="ctr" defTabSz="609630">
              <a:lnSpc>
                <a:spcPts val="3432"/>
              </a:lnSpc>
            </a:pPr>
            <a:r>
              <a:rPr lang="en-US" sz="2859" dirty="0">
                <a:solidFill>
                  <a:srgbClr val="FFFFFF"/>
                </a:solidFill>
                <a:latin typeface="Garet Bold"/>
              </a:rPr>
              <a:t>Agua?</a:t>
            </a:r>
          </a:p>
        </p:txBody>
      </p:sp>
      <p:sp>
        <p:nvSpPr>
          <p:cNvPr id="14" name="Freeform 14"/>
          <p:cNvSpPr/>
          <p:nvPr/>
        </p:nvSpPr>
        <p:spPr>
          <a:xfrm>
            <a:off x="6876167" y="68487"/>
            <a:ext cx="5298893" cy="6095657"/>
          </a:xfrm>
          <a:custGeom>
            <a:avLst/>
            <a:gdLst/>
            <a:ahLst/>
            <a:cxnLst/>
            <a:rect l="l" t="t" r="r" b="b"/>
            <a:pathLst>
              <a:path w="5742606" h="6120054">
                <a:moveTo>
                  <a:pt x="0" y="0"/>
                </a:moveTo>
                <a:lnTo>
                  <a:pt x="5742606" y="0"/>
                </a:lnTo>
                <a:lnTo>
                  <a:pt x="5742606" y="6120054"/>
                </a:lnTo>
                <a:lnTo>
                  <a:pt x="0" y="61200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74898" y="2916039"/>
            <a:ext cx="3978645" cy="1016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9303" lvl="1" indent="-204652" algn="just" defTabSz="609630">
              <a:lnSpc>
                <a:spcPts val="2653"/>
              </a:lnSpc>
              <a:buFont typeface="Arial"/>
              <a:buChar char="•"/>
            </a:pPr>
            <a:r>
              <a:rPr lang="en-US" sz="1895" dirty="0" err="1">
                <a:solidFill>
                  <a:srgbClr val="032D59"/>
                </a:solidFill>
                <a:latin typeface="Amiko Bold"/>
              </a:rPr>
              <a:t>Área</a:t>
            </a:r>
            <a:r>
              <a:rPr lang="en-US" sz="1895" dirty="0">
                <a:solidFill>
                  <a:srgbClr val="032D59"/>
                </a:solidFill>
                <a:latin typeface="Amiko Bold"/>
              </a:rPr>
              <a:t> </a:t>
            </a:r>
            <a:r>
              <a:rPr lang="en-US" sz="1895" dirty="0" err="1">
                <a:solidFill>
                  <a:srgbClr val="032D59"/>
                </a:solidFill>
                <a:latin typeface="Amiko Bold"/>
              </a:rPr>
              <a:t>marítima</a:t>
            </a:r>
            <a:r>
              <a:rPr lang="en-US" sz="1895" dirty="0">
                <a:solidFill>
                  <a:srgbClr val="032D59"/>
                </a:solidFill>
                <a:latin typeface="Amiko Bold"/>
              </a:rPr>
              <a:t> libre 530.903,60 km². [3]</a:t>
            </a:r>
          </a:p>
          <a:p>
            <a:pPr marL="409303" lvl="1" indent="-204652" algn="just" defTabSz="609630">
              <a:lnSpc>
                <a:spcPts val="2653"/>
              </a:lnSpc>
              <a:spcBef>
                <a:spcPct val="0"/>
              </a:spcBef>
              <a:buFont typeface="Arial"/>
              <a:buChar char="•"/>
            </a:pPr>
            <a:r>
              <a:rPr lang="en-US" sz="1895" dirty="0" err="1">
                <a:solidFill>
                  <a:srgbClr val="032D59"/>
                </a:solidFill>
                <a:latin typeface="Amiko Bold"/>
              </a:rPr>
              <a:t>Aprovechamiento</a:t>
            </a:r>
            <a:r>
              <a:rPr lang="en-US" sz="1895" dirty="0">
                <a:solidFill>
                  <a:srgbClr val="032D59"/>
                </a:solidFill>
                <a:latin typeface="Amiko Bold"/>
              </a:rPr>
              <a:t> del area maritima</a:t>
            </a:r>
          </a:p>
        </p:txBody>
      </p:sp>
    </p:spTree>
    <p:extLst>
      <p:ext uri="{BB962C8B-B14F-4D97-AF65-F5344CB8AC3E}">
        <p14:creationId xmlns:p14="http://schemas.microsoft.com/office/powerpoint/2010/main" val="146468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E29EC-FBB7-BAFE-F747-A71925B3A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89B18A-6352-BF7E-AF89-C101014B59F7}"/>
              </a:ext>
            </a:extLst>
          </p:cNvPr>
          <p:cNvSpPr/>
          <p:nvPr/>
        </p:nvSpPr>
        <p:spPr>
          <a:xfrm rot="-10800000">
            <a:off x="7127040" y="-4555207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2D71D7D-CF15-4619-6278-E53E29DA0BED}"/>
              </a:ext>
            </a:extLst>
          </p:cNvPr>
          <p:cNvSpPr/>
          <p:nvPr/>
        </p:nvSpPr>
        <p:spPr>
          <a:xfrm>
            <a:off x="-2683041" y="4270951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CFA44D3-0F50-B961-FEFB-535AFE99AA42}"/>
              </a:ext>
            </a:extLst>
          </p:cNvPr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C81179F-0076-83DB-55EB-2E7073CE9447}"/>
                </a:ext>
              </a:extLst>
            </p:cNvPr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CD11048F-C532-3D28-A625-2B4DDD773775}"/>
                  </a:ext>
                </a:extLst>
              </p:cNvPr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43A15DF9-4BEE-B444-5C50-BE5C254E766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D2D561A-F8F8-AC38-2D59-9F5CAE86CBC4}"/>
                </a:ext>
              </a:extLst>
            </p:cNvPr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4DB665E1-0A4A-9609-0077-7FE941500E51}"/>
              </a:ext>
            </a:extLst>
          </p:cNvPr>
          <p:cNvSpPr txBox="1"/>
          <p:nvPr/>
        </p:nvSpPr>
        <p:spPr>
          <a:xfrm>
            <a:off x="550842" y="533400"/>
            <a:ext cx="8226757" cy="31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346"/>
              </a:lnSpc>
            </a:pPr>
            <a:r>
              <a:rPr lang="es-CR" sz="3200" b="1" dirty="0">
                <a:solidFill>
                  <a:srgbClr val="FFFFFF"/>
                </a:solidFill>
                <a:latin typeface="Garet Bold" panose="020B0604020202020204" charset="0"/>
              </a:rPr>
              <a:t>O</a:t>
            </a:r>
            <a:r>
              <a:rPr lang="en-US" sz="3200" b="1" dirty="0" err="1">
                <a:solidFill>
                  <a:srgbClr val="FFFFFF"/>
                </a:solidFill>
                <a:latin typeface="Garet Bold" panose="020B0604020202020204" charset="0"/>
              </a:rPr>
              <a:t>bjetivo</a:t>
            </a:r>
            <a:r>
              <a:rPr lang="en-US" sz="3200" b="1" dirty="0">
                <a:solidFill>
                  <a:srgbClr val="FFFFFF"/>
                </a:solidFill>
                <a:latin typeface="Garet Bold" panose="020B0604020202020204" charset="0"/>
              </a:rPr>
              <a:t> general</a:t>
            </a:r>
            <a:endParaRPr lang="en-US" sz="4000" b="1" dirty="0">
              <a:solidFill>
                <a:srgbClr val="FFFFFF"/>
              </a:solidFill>
              <a:latin typeface="Garet Bold" panose="020B0604020202020204" charset="0"/>
            </a:endParaRPr>
          </a:p>
        </p:txBody>
      </p:sp>
      <p:sp>
        <p:nvSpPr>
          <p:cNvPr id="34" name="Hexagon 33">
            <a:extLst>
              <a:ext uri="{FF2B5EF4-FFF2-40B4-BE49-F238E27FC236}">
                <a16:creationId xmlns:a16="http://schemas.microsoft.com/office/drawing/2014/main" id="{44BD1835-F8A9-BCDA-113D-29D32C2225EF}"/>
              </a:ext>
            </a:extLst>
          </p:cNvPr>
          <p:cNvSpPr/>
          <p:nvPr/>
        </p:nvSpPr>
        <p:spPr>
          <a:xfrm>
            <a:off x="449705" y="2123973"/>
            <a:ext cx="11434701" cy="2822781"/>
          </a:xfrm>
          <a:prstGeom prst="hexagon">
            <a:avLst>
              <a:gd name="adj" fmla="val 42990"/>
              <a:gd name="vf" fmla="val 115470"/>
            </a:avLst>
          </a:prstGeom>
          <a:solidFill>
            <a:srgbClr val="032D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609630"/>
            <a:r>
              <a:rPr lang="es-CR" sz="2667" dirty="0">
                <a:solidFill>
                  <a:prstClr val="white"/>
                </a:solidFill>
                <a:latin typeface="Garet" panose="020B0604020202020204" charset="0"/>
              </a:rPr>
              <a:t>Simular un sistema de control que estabilice la plataforma MARLUP con un modelo realista de los actuadores y sensores con validación mediante un sistema </a:t>
            </a:r>
            <a:r>
              <a:rPr lang="es-CR" sz="2667" dirty="0" err="1">
                <a:solidFill>
                  <a:prstClr val="white"/>
                </a:solidFill>
                <a:latin typeface="Garet" panose="020B0604020202020204" charset="0"/>
              </a:rPr>
              <a:t>PiL</a:t>
            </a:r>
            <a:r>
              <a:rPr lang="es-CR" sz="2667" dirty="0">
                <a:solidFill>
                  <a:prstClr val="white"/>
                </a:solidFill>
                <a:latin typeface="Garet" panose="020B0604020202020204" charset="0"/>
              </a:rPr>
              <a:t>.</a:t>
            </a:r>
            <a:endParaRPr lang="en-US" sz="2667" dirty="0">
              <a:solidFill>
                <a:prstClr val="white"/>
              </a:solidFill>
              <a:latin typeface="Gare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81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DD20A-852D-CB1B-3725-B5D66BF9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B7D3B4-F9D1-EEE3-96FB-C19C3298D496}"/>
              </a:ext>
            </a:extLst>
          </p:cNvPr>
          <p:cNvSpPr/>
          <p:nvPr/>
        </p:nvSpPr>
        <p:spPr>
          <a:xfrm rot="-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3B4AB27-3072-EEC2-D628-F2A5A5D8370D}"/>
              </a:ext>
            </a:extLst>
          </p:cNvPr>
          <p:cNvSpPr/>
          <p:nvPr/>
        </p:nvSpPr>
        <p:spPr>
          <a:xfrm>
            <a:off x="7358811" y="4634558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501C606-B132-FA56-2213-48059F7A6C3C}"/>
              </a:ext>
            </a:extLst>
          </p:cNvPr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B33D1AA-E249-B264-D8CF-29AFB4CA431F}"/>
                </a:ext>
              </a:extLst>
            </p:cNvPr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6E108557-E1FA-57DF-11B7-EC11656CACD4}"/>
                  </a:ext>
                </a:extLst>
              </p:cNvPr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30286FCB-9180-8E31-A094-3C3B8B8074D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DB4E90B-FBB0-E718-E7D2-13CA0E25BD61}"/>
                </a:ext>
              </a:extLst>
            </p:cNvPr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C8D47619-4817-DBD2-C324-346AD3CC5694}"/>
              </a:ext>
            </a:extLst>
          </p:cNvPr>
          <p:cNvSpPr txBox="1"/>
          <p:nvPr/>
        </p:nvSpPr>
        <p:spPr>
          <a:xfrm>
            <a:off x="316982" y="287458"/>
            <a:ext cx="8226757" cy="31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346"/>
              </a:lnSpc>
            </a:pPr>
            <a:r>
              <a:rPr lang="es-CR" sz="3200" b="1">
                <a:solidFill>
                  <a:srgbClr val="FFFFFF"/>
                </a:solidFill>
                <a:latin typeface="Garet Bold" panose="020B0604020202020204" charset="0"/>
              </a:rPr>
              <a:t>O</a:t>
            </a:r>
            <a:r>
              <a:rPr lang="en-US" sz="3200" b="1" err="1">
                <a:solidFill>
                  <a:srgbClr val="FFFFFF"/>
                </a:solidFill>
                <a:latin typeface="Garet Bold" panose="020B0604020202020204" charset="0"/>
              </a:rPr>
              <a:t>bjetivos</a:t>
            </a:r>
            <a:r>
              <a:rPr lang="en-US" sz="3200" b="1">
                <a:solidFill>
                  <a:srgbClr val="FFFFFF"/>
                </a:solidFill>
                <a:latin typeface="Garet Bold" panose="020B0604020202020204" charset="0"/>
              </a:rPr>
              <a:t> </a:t>
            </a:r>
            <a:r>
              <a:rPr lang="en-US" sz="3200" b="1" err="1">
                <a:solidFill>
                  <a:srgbClr val="FFFFFF"/>
                </a:solidFill>
                <a:latin typeface="Garet Bold" panose="020B0604020202020204" charset="0"/>
              </a:rPr>
              <a:t>específicos</a:t>
            </a:r>
            <a:endParaRPr lang="en-US" sz="4000" b="1">
              <a:solidFill>
                <a:srgbClr val="FFFFFF"/>
              </a:solidFill>
              <a:latin typeface="Garet Bold" panose="020B060402020202020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216F5EA-73CA-D22F-B227-6C231EB86260}"/>
              </a:ext>
            </a:extLst>
          </p:cNvPr>
          <p:cNvGrpSpPr/>
          <p:nvPr/>
        </p:nvGrpSpPr>
        <p:grpSpPr>
          <a:xfrm>
            <a:off x="1741744" y="685801"/>
            <a:ext cx="8786795" cy="3098564"/>
            <a:chOff x="364059" y="2477460"/>
            <a:chExt cx="13030971" cy="5500809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F2510C6F-4F86-B648-7AB3-4A4BE7AE0200}"/>
                </a:ext>
              </a:extLst>
            </p:cNvPr>
            <p:cNvGrpSpPr/>
            <p:nvPr/>
          </p:nvGrpSpPr>
          <p:grpSpPr>
            <a:xfrm>
              <a:off x="364059" y="2506955"/>
              <a:ext cx="3973151" cy="5471314"/>
              <a:chOff x="-2773" y="0"/>
              <a:chExt cx="701273" cy="965703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50DA587-2740-27C5-02A4-089C4A244149}"/>
                  </a:ext>
                </a:extLst>
              </p:cNvPr>
              <p:cNvSpPr/>
              <p:nvPr/>
            </p:nvSpPr>
            <p:spPr>
              <a:xfrm>
                <a:off x="0" y="0"/>
                <a:ext cx="698500" cy="965703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965703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762503"/>
                    </a:lnTo>
                    <a:lnTo>
                      <a:pt x="349250" y="965703"/>
                    </a:lnTo>
                    <a:lnTo>
                      <a:pt x="0" y="762503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032D59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EA648EFB-31AA-B510-2C68-800A86BD2699}"/>
                  </a:ext>
                </a:extLst>
              </p:cNvPr>
              <p:cNvSpPr txBox="1"/>
              <p:nvPr/>
            </p:nvSpPr>
            <p:spPr>
              <a:xfrm>
                <a:off x="-2773" y="215875"/>
                <a:ext cx="698500" cy="53203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2333"/>
                  </a:lnSpc>
                </a:pPr>
                <a:r>
                  <a:rPr lang="en-US" sz="2133" dirty="0" err="1">
                    <a:solidFill>
                      <a:srgbClr val="FFFFFF"/>
                    </a:solidFill>
                    <a:latin typeface="Garet"/>
                  </a:rPr>
                  <a:t>Modelar</a:t>
                </a:r>
                <a:r>
                  <a:rPr lang="en-US" sz="2133" dirty="0">
                    <a:solidFill>
                      <a:srgbClr val="FFFFFF"/>
                    </a:solidFill>
                    <a:latin typeface="Garet"/>
                  </a:rPr>
                  <a:t> la </a:t>
                </a:r>
                <a:r>
                  <a:rPr lang="en-US" sz="2133" dirty="0" err="1">
                    <a:solidFill>
                      <a:srgbClr val="FFFFFF"/>
                    </a:solidFill>
                    <a:latin typeface="Garet"/>
                  </a:rPr>
                  <a:t>dinámica</a:t>
                </a:r>
                <a:r>
                  <a:rPr lang="en-US" sz="2133" dirty="0">
                    <a:solidFill>
                      <a:srgbClr val="FFFFFF"/>
                    </a:solidFill>
                    <a:latin typeface="Garet"/>
                  </a:rPr>
                  <a:t> </a:t>
                </a:r>
              </a:p>
              <a:p>
                <a:pPr algn="ctr" defTabSz="609630">
                  <a:lnSpc>
                    <a:spcPts val="2333"/>
                  </a:lnSpc>
                </a:pPr>
                <a:r>
                  <a:rPr lang="en-US" sz="2133" dirty="0">
                    <a:solidFill>
                      <a:srgbClr val="FFFFFF"/>
                    </a:solidFill>
                    <a:latin typeface="Garet"/>
                  </a:rPr>
                  <a:t>de los </a:t>
                </a:r>
                <a:r>
                  <a:rPr lang="en-US" sz="2133" dirty="0" err="1">
                    <a:solidFill>
                      <a:srgbClr val="FFFFFF"/>
                    </a:solidFill>
                    <a:latin typeface="Garet"/>
                  </a:rPr>
                  <a:t>actuadores</a:t>
                </a:r>
                <a:r>
                  <a:rPr lang="en-US" sz="2133" dirty="0">
                    <a:solidFill>
                      <a:srgbClr val="FFFFFF"/>
                    </a:solidFill>
                    <a:latin typeface="Garet"/>
                  </a:rPr>
                  <a:t> de la </a:t>
                </a:r>
                <a:r>
                  <a:rPr lang="es-CR" sz="2133" dirty="0">
                    <a:solidFill>
                      <a:srgbClr val="FFFFFF"/>
                    </a:solidFill>
                    <a:latin typeface="Garet"/>
                  </a:rPr>
                  <a:t>planta. </a:t>
                </a:r>
                <a:r>
                  <a:rPr lang="en-US" sz="2133" dirty="0">
                    <a:solidFill>
                      <a:srgbClr val="FFFFFF"/>
                    </a:solidFill>
                    <a:latin typeface="Garet"/>
                  </a:rPr>
                  <a:t>[5]</a:t>
                </a:r>
                <a:endParaRPr lang="en-US" sz="2133" b="1" dirty="0">
                  <a:solidFill>
                    <a:srgbClr val="FFFFFF"/>
                  </a:solidFill>
                  <a:latin typeface="Garet"/>
                </a:endParaRPr>
              </a:p>
            </p:txBody>
          </p:sp>
        </p:grpSp>
        <p:grpSp>
          <p:nvGrpSpPr>
            <p:cNvPr id="24" name="Group 5">
              <a:extLst>
                <a:ext uri="{FF2B5EF4-FFF2-40B4-BE49-F238E27FC236}">
                  <a16:creationId xmlns:a16="http://schemas.microsoft.com/office/drawing/2014/main" id="{31C7BAA8-7781-FFC4-2CB0-5CE6AD34FF97}"/>
                </a:ext>
              </a:extLst>
            </p:cNvPr>
            <p:cNvGrpSpPr/>
            <p:nvPr/>
          </p:nvGrpSpPr>
          <p:grpSpPr>
            <a:xfrm>
              <a:off x="4892969" y="2500723"/>
              <a:ext cx="3973151" cy="5471314"/>
              <a:chOff x="-2773" y="0"/>
              <a:chExt cx="701273" cy="965703"/>
            </a:xfrm>
          </p:grpSpPr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0D4AC3B5-81AB-449C-3357-823B89E59772}"/>
                  </a:ext>
                </a:extLst>
              </p:cNvPr>
              <p:cNvSpPr/>
              <p:nvPr/>
            </p:nvSpPr>
            <p:spPr>
              <a:xfrm>
                <a:off x="0" y="0"/>
                <a:ext cx="698500" cy="965703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965703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762503"/>
                    </a:lnTo>
                    <a:lnTo>
                      <a:pt x="349250" y="965703"/>
                    </a:lnTo>
                    <a:lnTo>
                      <a:pt x="0" y="762503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032D59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6" name="TextBox 7">
                <a:extLst>
                  <a:ext uri="{FF2B5EF4-FFF2-40B4-BE49-F238E27FC236}">
                    <a16:creationId xmlns:a16="http://schemas.microsoft.com/office/drawing/2014/main" id="{C53F1AF4-BD6B-0958-4AF2-919561349894}"/>
                  </a:ext>
                </a:extLst>
              </p:cNvPr>
              <p:cNvSpPr txBox="1"/>
              <p:nvPr/>
            </p:nvSpPr>
            <p:spPr>
              <a:xfrm>
                <a:off x="-2773" y="215875"/>
                <a:ext cx="698500" cy="53203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2333"/>
                  </a:lnSpc>
                </a:pPr>
                <a:r>
                  <a:rPr lang="es-CR" sz="2133" dirty="0">
                    <a:solidFill>
                      <a:srgbClr val="FFFFFF"/>
                    </a:solidFill>
                    <a:latin typeface="Garet"/>
                  </a:rPr>
                  <a:t>Incorporar sensores que representen dispositivos reales con cuantización, saturación, ruido...</a:t>
                </a:r>
                <a:endParaRPr lang="en-US" sz="2133" dirty="0">
                  <a:solidFill>
                    <a:srgbClr val="FFFFFF"/>
                  </a:solidFill>
                  <a:latin typeface="Garet"/>
                </a:endParaRPr>
              </a:p>
            </p:txBody>
          </p:sp>
        </p:grpSp>
        <p:grpSp>
          <p:nvGrpSpPr>
            <p:cNvPr id="27" name="Group 5">
              <a:extLst>
                <a:ext uri="{FF2B5EF4-FFF2-40B4-BE49-F238E27FC236}">
                  <a16:creationId xmlns:a16="http://schemas.microsoft.com/office/drawing/2014/main" id="{A3D08844-DB01-F3DA-5E87-6D7DB9857C7D}"/>
                </a:ext>
              </a:extLst>
            </p:cNvPr>
            <p:cNvGrpSpPr/>
            <p:nvPr/>
          </p:nvGrpSpPr>
          <p:grpSpPr>
            <a:xfrm>
              <a:off x="9421879" y="2477460"/>
              <a:ext cx="3973151" cy="5471314"/>
              <a:chOff x="-2773" y="0"/>
              <a:chExt cx="701273" cy="965703"/>
            </a:xfrm>
          </p:grpSpPr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3FFA2CFA-FB33-6C7F-21C3-AEAC7F186A8E}"/>
                  </a:ext>
                </a:extLst>
              </p:cNvPr>
              <p:cNvSpPr/>
              <p:nvPr/>
            </p:nvSpPr>
            <p:spPr>
              <a:xfrm>
                <a:off x="0" y="0"/>
                <a:ext cx="698500" cy="965703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965703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762503"/>
                    </a:lnTo>
                    <a:lnTo>
                      <a:pt x="349250" y="965703"/>
                    </a:lnTo>
                    <a:lnTo>
                      <a:pt x="0" y="762503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032D59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9" name="TextBox 7">
                <a:extLst>
                  <a:ext uri="{FF2B5EF4-FFF2-40B4-BE49-F238E27FC236}">
                    <a16:creationId xmlns:a16="http://schemas.microsoft.com/office/drawing/2014/main" id="{74F0507E-EADC-5FDD-592B-0805BD438341}"/>
                  </a:ext>
                </a:extLst>
              </p:cNvPr>
              <p:cNvSpPr txBox="1"/>
              <p:nvPr/>
            </p:nvSpPr>
            <p:spPr>
              <a:xfrm>
                <a:off x="-2773" y="215875"/>
                <a:ext cx="698500" cy="53203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2333"/>
                  </a:lnSpc>
                </a:pPr>
                <a:r>
                  <a:rPr lang="es-CR" sz="2133" dirty="0">
                    <a:solidFill>
                      <a:srgbClr val="FFFFFF"/>
                    </a:solidFill>
                    <a:latin typeface="Garet"/>
                  </a:rPr>
                  <a:t>Diseñar controladores para la estabilización de la plataforma.</a:t>
                </a:r>
                <a:endParaRPr lang="en-US" sz="2133" dirty="0">
                  <a:solidFill>
                    <a:srgbClr val="FFFFFF"/>
                  </a:solidFill>
                  <a:latin typeface="Garet"/>
                </a:endParaRPr>
              </a:p>
            </p:txBody>
          </p:sp>
        </p:grp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5C91BA53-069F-0C0D-F20B-DA6683EDDC35}"/>
              </a:ext>
            </a:extLst>
          </p:cNvPr>
          <p:cNvGrpSpPr/>
          <p:nvPr/>
        </p:nvGrpSpPr>
        <p:grpSpPr>
          <a:xfrm>
            <a:off x="3257949" y="3401016"/>
            <a:ext cx="2679099" cy="3081950"/>
            <a:chOff x="-2773" y="0"/>
            <a:chExt cx="701273" cy="96570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221D3D2-6350-4265-D1FA-6423BE8065E4}"/>
                </a:ext>
              </a:extLst>
            </p:cNvPr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1D91A4A0-60B0-81E7-D618-1B1EF452DC6D}"/>
                </a:ext>
              </a:extLst>
            </p:cNvPr>
            <p:cNvSpPr txBox="1"/>
            <p:nvPr/>
          </p:nvSpPr>
          <p:spPr>
            <a:xfrm>
              <a:off x="-2773" y="215875"/>
              <a:ext cx="698500" cy="53203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333"/>
                </a:lnSpc>
              </a:pPr>
              <a:r>
                <a:rPr lang="es-CR" sz="2133" dirty="0">
                  <a:solidFill>
                    <a:schemeClr val="bg1"/>
                  </a:solidFill>
                  <a:latin typeface="Garet"/>
                </a:rPr>
                <a:t>Implementar un sistema PIL para simular una planta virtual con un controlador </a:t>
              </a:r>
              <a:r>
                <a:rPr lang="es-CR" sz="2133" dirty="0" err="1">
                  <a:solidFill>
                    <a:schemeClr val="bg1"/>
                  </a:solidFill>
                  <a:latin typeface="Garet"/>
                </a:rPr>
                <a:t>fisico</a:t>
              </a:r>
              <a:r>
                <a:rPr lang="es-CR" sz="2133" dirty="0">
                  <a:solidFill>
                    <a:schemeClr val="bg1"/>
                  </a:solidFill>
                  <a:latin typeface="Garet"/>
                </a:rPr>
                <a:t>. [6]</a:t>
              </a:r>
              <a:endParaRPr lang="en-US" sz="2133" dirty="0">
                <a:solidFill>
                  <a:schemeClr val="bg1"/>
                </a:solidFill>
                <a:latin typeface="Gare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141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 rot="-10800000">
            <a:off x="-2555503" y="-4698626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2201357" y="6386175"/>
            <a:ext cx="14393357" cy="2153835"/>
            <a:chOff x="0" y="-192881"/>
            <a:chExt cx="28786715" cy="430766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-192881"/>
              <a:ext cx="28786715" cy="4307669"/>
              <a:chOff x="0" y="-38100"/>
              <a:chExt cx="5686265" cy="8509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69672" y="0"/>
                <a:ext cx="4816593" cy="142430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 rot="-2625670">
            <a:off x="11029385" y="5397357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8" name="Imagen 27" descr="Diagrama&#10;&#10;Descripción generada automáticamente">
            <a:extLst>
              <a:ext uri="{FF2B5EF4-FFF2-40B4-BE49-F238E27FC236}">
                <a16:creationId xmlns:a16="http://schemas.microsoft.com/office/drawing/2014/main" id="{FCF62006-4226-1BF1-9E4F-08B342B7205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3" b="15185"/>
          <a:stretch/>
        </p:blipFill>
        <p:spPr>
          <a:xfrm>
            <a:off x="1203960" y="435328"/>
            <a:ext cx="9784080" cy="558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0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4"/>
          <p:cNvSpPr/>
          <p:nvPr/>
        </p:nvSpPr>
        <p:spPr>
          <a:xfrm rot="-5601629">
            <a:off x="10580605" y="684988"/>
            <a:ext cx="873529" cy="928053"/>
          </a:xfrm>
          <a:custGeom>
            <a:avLst/>
            <a:gdLst/>
            <a:ahLst/>
            <a:cxnLst/>
            <a:rect l="l" t="t" r="r" b="b"/>
            <a:pathLst>
              <a:path w="1310294" h="1392079">
                <a:moveTo>
                  <a:pt x="0" y="0"/>
                </a:moveTo>
                <a:lnTo>
                  <a:pt x="1310294" y="0"/>
                </a:lnTo>
                <a:lnTo>
                  <a:pt x="1310294" y="1392078"/>
                </a:lnTo>
                <a:lnTo>
                  <a:pt x="0" y="1392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251296" y="1612228"/>
            <a:ext cx="3031259" cy="4174262"/>
            <a:chOff x="-2773" y="0"/>
            <a:chExt cx="701273" cy="9657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2773" y="283588"/>
              <a:ext cx="698500" cy="581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706"/>
                </a:lnSpc>
              </a:pPr>
              <a:r>
                <a:rPr lang="en-US" sz="1933" b="1" dirty="0">
                  <a:solidFill>
                    <a:srgbClr val="FFFFFF"/>
                  </a:solidFill>
                  <a:latin typeface="Garet Bold"/>
                </a:rPr>
                <a:t>1- Base </a:t>
              </a:r>
              <a:r>
                <a:rPr lang="en-US" sz="1933" b="1" dirty="0" err="1">
                  <a:solidFill>
                    <a:srgbClr val="FFFFFF"/>
                  </a:solidFill>
                  <a:latin typeface="Garet Bold"/>
                </a:rPr>
                <a:t>flotante</a:t>
              </a:r>
              <a:r>
                <a:rPr lang="en-US" sz="1933" b="1" dirty="0">
                  <a:solidFill>
                    <a:srgbClr val="FFFFFF"/>
                  </a:solidFill>
                  <a:latin typeface="Garet Bold"/>
                </a:rPr>
                <a:t> [7]     </a:t>
              </a:r>
            </a:p>
            <a:p>
              <a:pPr algn="ctr" defTabSz="609630">
                <a:lnSpc>
                  <a:spcPts val="2519"/>
                </a:lnSpc>
              </a:pPr>
              <a:endParaRPr lang="en-US" sz="1599" dirty="0">
                <a:solidFill>
                  <a:srgbClr val="FFFFFF"/>
                </a:solidFill>
                <a:latin typeface="Garet"/>
              </a:endParaRP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4377" y="1612228"/>
            <a:ext cx="3031260" cy="4174262"/>
            <a:chOff x="-2773" y="0"/>
            <a:chExt cx="701273" cy="9657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</p:spPr>
          <p:txBody>
            <a:bodyPr/>
            <a:lstStyle/>
            <a:p>
              <a:pPr defTabSz="609630"/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2773" y="239711"/>
              <a:ext cx="698500" cy="581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706"/>
                </a:lnSpc>
              </a:pPr>
              <a:r>
                <a:rPr lang="en-US" sz="1933" b="1" dirty="0">
                  <a:solidFill>
                    <a:srgbClr val="FFFFFF"/>
                  </a:solidFill>
                  <a:latin typeface="Garet Bold"/>
                </a:rPr>
                <a:t>2- </a:t>
              </a:r>
              <a:r>
                <a:rPr lang="en-US" sz="1933" b="1" dirty="0" err="1">
                  <a:solidFill>
                    <a:srgbClr val="FFFFFF"/>
                  </a:solidFill>
                  <a:latin typeface="Garet Bold"/>
                </a:rPr>
                <a:t>Gemelo</a:t>
              </a:r>
              <a:r>
                <a:rPr lang="en-US" sz="1933" b="1" dirty="0">
                  <a:solidFill>
                    <a:srgbClr val="FFFFFF"/>
                  </a:solidFill>
                  <a:latin typeface="Garet Bold"/>
                </a:rPr>
                <a:t> digital de la Plataforma [1]</a:t>
              </a:r>
              <a:endParaRPr lang="en-US" sz="1266" b="1" dirty="0">
                <a:solidFill>
                  <a:srgbClr val="FFFFFF"/>
                </a:solidFill>
                <a:latin typeface="Garet"/>
              </a:endParaRPr>
            </a:p>
            <a:p>
              <a:pPr algn="ctr" defTabSz="609630">
                <a:lnSpc>
                  <a:spcPts val="2706"/>
                </a:lnSpc>
              </a:pPr>
              <a:endParaRPr lang="en-US" sz="1933" b="1" dirty="0">
                <a:solidFill>
                  <a:srgbClr val="FFFFFF"/>
                </a:solidFill>
                <a:latin typeface="Garet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97460" y="1612228"/>
            <a:ext cx="3031259" cy="4174262"/>
            <a:chOff x="-2773" y="0"/>
            <a:chExt cx="701273" cy="9657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-2773" y="271139"/>
              <a:ext cx="698500" cy="581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706"/>
                </a:lnSpc>
              </a:pPr>
              <a:r>
                <a:rPr lang="en-US" sz="1933" b="1" dirty="0">
                  <a:solidFill>
                    <a:srgbClr val="FFFFFF"/>
                  </a:solidFill>
                  <a:latin typeface="Garet Bold"/>
                </a:rPr>
                <a:t>3- </a:t>
              </a:r>
              <a:r>
                <a:rPr lang="en-US" sz="1933" b="1" dirty="0" err="1">
                  <a:solidFill>
                    <a:srgbClr val="FFFFFF"/>
                  </a:solidFill>
                  <a:latin typeface="Garet Bold"/>
                </a:rPr>
                <a:t>Controladores</a:t>
              </a:r>
              <a:r>
                <a:rPr lang="en-US" sz="1933" b="1" dirty="0">
                  <a:solidFill>
                    <a:srgbClr val="FFFFFF"/>
                  </a:solidFill>
                  <a:latin typeface="Garet Bold"/>
                </a:rPr>
                <a:t> [2][6]</a:t>
              </a:r>
              <a:endParaRPr lang="en-US" sz="1266" b="1" dirty="0">
                <a:solidFill>
                  <a:srgbClr val="FFFFFF"/>
                </a:solidFill>
                <a:latin typeface="Garet"/>
              </a:endParaRP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algn="ctr" defTabSz="609630">
                <a:lnSpc>
                  <a:spcPts val="2706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50842" y="533400"/>
            <a:ext cx="8226757" cy="75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346"/>
              </a:lnSpc>
            </a:pPr>
            <a:r>
              <a:rPr lang="en-US" sz="2666" dirty="0" err="1">
                <a:solidFill>
                  <a:srgbClr val="FFFFFF"/>
                </a:solidFill>
                <a:latin typeface="Garet"/>
              </a:rPr>
              <a:t>Línea</a:t>
            </a:r>
            <a:r>
              <a:rPr lang="en-US" sz="2666" dirty="0">
                <a:solidFill>
                  <a:srgbClr val="FFFFFF"/>
                </a:solidFill>
                <a:latin typeface="Garet"/>
              </a:rPr>
              <a:t> de</a:t>
            </a:r>
          </a:p>
          <a:p>
            <a:pPr defTabSz="609630">
              <a:lnSpc>
                <a:spcPts val="3680"/>
              </a:lnSpc>
            </a:pPr>
            <a:r>
              <a:rPr lang="en-US" sz="3066" dirty="0">
                <a:solidFill>
                  <a:srgbClr val="FFFFFF"/>
                </a:solidFill>
                <a:latin typeface="Garet Bold"/>
              </a:rPr>
              <a:t>Desarrollo del </a:t>
            </a:r>
            <a:r>
              <a:rPr lang="en-US" sz="3066" dirty="0" err="1">
                <a:solidFill>
                  <a:srgbClr val="FFFFFF"/>
                </a:solidFill>
                <a:latin typeface="Garet Bold"/>
              </a:rPr>
              <a:t>proyecto</a:t>
            </a:r>
            <a:endParaRPr lang="en-US" sz="3066" dirty="0">
              <a:solidFill>
                <a:srgbClr val="FFFFFF"/>
              </a:solidFill>
              <a:latin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0894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32E94-17A2-3A53-03ED-26BA9DAC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F7032C-5095-0285-8687-F2E612AFE305}"/>
              </a:ext>
            </a:extLst>
          </p:cNvPr>
          <p:cNvSpPr/>
          <p:nvPr/>
        </p:nvSpPr>
        <p:spPr>
          <a:xfrm rot="-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F62B3B8-51C5-05AE-47A6-00E325AC892E}"/>
              </a:ext>
            </a:extLst>
          </p:cNvPr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096FD30-E18A-A043-3DA5-67F8D1D5190D}"/>
              </a:ext>
            </a:extLst>
          </p:cNvPr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06DDC0F1-6380-A895-7C06-755BEE13D8EB}"/>
                </a:ext>
              </a:extLst>
            </p:cNvPr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FC909196-DF29-3C85-BCBA-604C38EDB9E3}"/>
                  </a:ext>
                </a:extLst>
              </p:cNvPr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598AE320-F436-C8E4-D697-B098EE9D67A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D228B42-534C-A9C9-638C-0E53064D92C1}"/>
                </a:ext>
              </a:extLst>
            </p:cNvPr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7BF10F33-E8C8-71C9-6149-3CEC1B47B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228" y="1076960"/>
            <a:ext cx="4813544" cy="540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57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5778500" y="-35663"/>
            <a:ext cx="6423660" cy="6716241"/>
            <a:chOff x="0" y="-38100"/>
            <a:chExt cx="3395488" cy="26533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5488" cy="2615230"/>
            </a:xfrm>
            <a:custGeom>
              <a:avLst/>
              <a:gdLst/>
              <a:ahLst/>
              <a:cxnLst/>
              <a:rect l="l" t="t" r="r" b="b"/>
              <a:pathLst>
                <a:path w="3395488" h="2615230">
                  <a:moveTo>
                    <a:pt x="0" y="0"/>
                  </a:moveTo>
                  <a:lnTo>
                    <a:pt x="3395488" y="0"/>
                  </a:lnTo>
                  <a:lnTo>
                    <a:pt x="3395488" y="2615230"/>
                  </a:lnTo>
                  <a:lnTo>
                    <a:pt x="0" y="2615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7940575" y="4954356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62606" y="1602420"/>
            <a:ext cx="3035703" cy="4174262"/>
            <a:chOff x="-3801" y="0"/>
            <a:chExt cx="702301" cy="9657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3801" y="262800"/>
              <a:ext cx="698500" cy="581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706"/>
                </a:lnSpc>
              </a:pPr>
              <a:r>
                <a:rPr lang="en-US" sz="2133" b="1" dirty="0">
                  <a:solidFill>
                    <a:srgbClr val="FFFFFF"/>
                  </a:solidFill>
                  <a:latin typeface="Garet Bold"/>
                </a:rPr>
                <a:t>Base </a:t>
              </a:r>
              <a:r>
                <a:rPr lang="en-US" sz="2133" b="1" dirty="0" err="1">
                  <a:solidFill>
                    <a:srgbClr val="FFFFFF"/>
                  </a:solidFill>
                  <a:latin typeface="Garet Bold"/>
                </a:rPr>
                <a:t>flotante</a:t>
              </a:r>
              <a:endParaRPr lang="en-US" sz="2133" b="1" dirty="0">
                <a:solidFill>
                  <a:srgbClr val="FFFFFF"/>
                </a:solidFill>
                <a:latin typeface="Garet Bold"/>
              </a:endParaRPr>
            </a:p>
            <a:p>
              <a:pPr algn="ctr" defTabSz="609630">
                <a:lnSpc>
                  <a:spcPts val="2519"/>
                </a:lnSpc>
              </a:pPr>
              <a:endParaRPr lang="en-US" sz="2133" dirty="0">
                <a:solidFill>
                  <a:srgbClr val="FFFFFF"/>
                </a:solidFill>
                <a:latin typeface="Garet"/>
              </a:endParaRP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n-US" sz="1867" dirty="0" err="1">
                  <a:solidFill>
                    <a:srgbClr val="FFFFFF"/>
                  </a:solidFill>
                  <a:latin typeface="Garet"/>
                </a:rPr>
                <a:t>Estructura</a:t>
              </a:r>
              <a:r>
                <a:rPr lang="en-US" sz="1867" dirty="0">
                  <a:solidFill>
                    <a:srgbClr val="FFFFFF"/>
                  </a:solidFill>
                  <a:latin typeface="Garet"/>
                </a:rPr>
                <a:t> </a:t>
              </a:r>
              <a:r>
                <a:rPr lang="en-US" sz="1867" dirty="0" err="1">
                  <a:solidFill>
                    <a:srgbClr val="FFFFFF"/>
                  </a:solidFill>
                  <a:latin typeface="Garet"/>
                </a:rPr>
                <a:t>estable</a:t>
              </a:r>
              <a:r>
                <a:rPr lang="en-US" sz="1867" dirty="0">
                  <a:solidFill>
                    <a:srgbClr val="FFFFFF"/>
                  </a:solidFill>
                  <a:latin typeface="Garet"/>
                </a:rPr>
                <a:t> [7]</a:t>
              </a: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n-US" sz="1867" dirty="0" err="1">
                  <a:solidFill>
                    <a:srgbClr val="FFFFFF"/>
                  </a:solidFill>
                  <a:latin typeface="Garet"/>
                </a:rPr>
                <a:t>Diseño</a:t>
              </a:r>
              <a:r>
                <a:rPr lang="en-US" sz="1867" dirty="0">
                  <a:solidFill>
                    <a:srgbClr val="FFFFFF"/>
                  </a:solidFill>
                  <a:latin typeface="Garet"/>
                </a:rPr>
                <a:t> modular [7]</a:t>
              </a:r>
            </a:p>
            <a:p>
              <a:pPr marL="136743" lvl="1" defTabSz="609630">
                <a:lnSpc>
                  <a:spcPts val="1773"/>
                </a:lnSpc>
              </a:pPr>
              <a:endParaRPr lang="en-US" sz="1867" dirty="0">
                <a:solidFill>
                  <a:srgbClr val="FFFFFF"/>
                </a:solidFill>
                <a:latin typeface="Garet"/>
              </a:endParaRP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algn="ctr" defTabSz="609630">
                <a:lnSpc>
                  <a:spcPts val="2706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2201357" y="6386175"/>
            <a:ext cx="14393357" cy="2153835"/>
            <a:chOff x="0" y="-192881"/>
            <a:chExt cx="28786715" cy="4307669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-192881"/>
              <a:ext cx="28786715" cy="4307669"/>
              <a:chOff x="0" y="-38100"/>
              <a:chExt cx="5686265" cy="8509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686265" cy="171966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42740" y="312404"/>
            <a:ext cx="4221480" cy="754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2346"/>
              </a:lnSpc>
            </a:pPr>
            <a:r>
              <a:rPr lang="en-US" sz="2666" dirty="0" err="1">
                <a:solidFill>
                  <a:srgbClr val="FFFFFF"/>
                </a:solidFill>
                <a:latin typeface="Garet"/>
              </a:rPr>
              <a:t>Línea</a:t>
            </a:r>
            <a:r>
              <a:rPr lang="en-US" sz="2666" dirty="0">
                <a:solidFill>
                  <a:srgbClr val="FFFFFF"/>
                </a:solidFill>
                <a:latin typeface="Garet"/>
              </a:rPr>
              <a:t> de</a:t>
            </a:r>
          </a:p>
          <a:p>
            <a:pPr defTabSz="609630">
              <a:lnSpc>
                <a:spcPts val="3680"/>
              </a:lnSpc>
            </a:pPr>
            <a:r>
              <a:rPr lang="en-US" sz="3066" dirty="0">
                <a:solidFill>
                  <a:srgbClr val="FFFFFF"/>
                </a:solidFill>
                <a:latin typeface="Garet Bold"/>
              </a:rPr>
              <a:t>Desarrollo del </a:t>
            </a:r>
            <a:r>
              <a:rPr lang="en-US" sz="3066" dirty="0" err="1">
                <a:solidFill>
                  <a:srgbClr val="FFFFFF"/>
                </a:solidFill>
                <a:latin typeface="Garet Bold"/>
              </a:rPr>
              <a:t>proyecto</a:t>
            </a:r>
            <a:endParaRPr lang="en-US" sz="3066" dirty="0">
              <a:solidFill>
                <a:srgbClr val="FFFFFF"/>
              </a:solidFill>
              <a:latin typeface="Garet Bold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096943" y="3429000"/>
            <a:ext cx="1534448" cy="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7" name="Imagen 16" descr="Imagen que contiene agua, pieza, nieve, pastel&#10;&#10;Descripción generada automáticamente">
            <a:extLst>
              <a:ext uri="{FF2B5EF4-FFF2-40B4-BE49-F238E27FC236}">
                <a16:creationId xmlns:a16="http://schemas.microsoft.com/office/drawing/2014/main" id="{E4A8475E-E649-ACB9-5967-3F52C0072D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571" y="314260"/>
            <a:ext cx="5537314" cy="31147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Imagen 20" descr="Imagen que contiene tabla, computadora, escritorio&#10;&#10;Descripción generada automáticamente">
            <a:extLst>
              <a:ext uri="{FF2B5EF4-FFF2-40B4-BE49-F238E27FC236}">
                <a16:creationId xmlns:a16="http://schemas.microsoft.com/office/drawing/2014/main" id="{11EA4DD0-2EBB-4D8F-A6A2-E889980D1E4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1" r="27079"/>
          <a:stretch/>
        </p:blipFill>
        <p:spPr>
          <a:xfrm>
            <a:off x="8967791" y="3292681"/>
            <a:ext cx="2303168" cy="2767050"/>
          </a:xfrm>
          <a:prstGeom prst="rect">
            <a:avLst/>
          </a:prstGeom>
        </p:spPr>
      </p:pic>
      <p:pic>
        <p:nvPicPr>
          <p:cNvPr id="23" name="Imagen 22" descr="Imagen que contiene monitor, interior, computadora, pantalla&#10;&#10;Descripción generada automáticamente">
            <a:extLst>
              <a:ext uri="{FF2B5EF4-FFF2-40B4-BE49-F238E27FC236}">
                <a16:creationId xmlns:a16="http://schemas.microsoft.com/office/drawing/2014/main" id="{99EE1931-9B77-47BB-8117-29D347DB107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0" r="25020"/>
          <a:stretch/>
        </p:blipFill>
        <p:spPr>
          <a:xfrm>
            <a:off x="6113571" y="3369600"/>
            <a:ext cx="2779820" cy="281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94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E29EC-FBB7-BAFE-F747-A71925B3A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89B18A-6352-BF7E-AF89-C101014B59F7}"/>
              </a:ext>
            </a:extLst>
          </p:cNvPr>
          <p:cNvSpPr/>
          <p:nvPr/>
        </p:nvSpPr>
        <p:spPr>
          <a:xfrm rot="-10800000">
            <a:off x="7127040" y="-4555207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2D71D7D-CF15-4619-6278-E53E29DA0BED}"/>
              </a:ext>
            </a:extLst>
          </p:cNvPr>
          <p:cNvSpPr/>
          <p:nvPr/>
        </p:nvSpPr>
        <p:spPr>
          <a:xfrm>
            <a:off x="-2683041" y="4270951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C47D84F-9B5C-4E74-99D9-11FDB716D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300" y="1012813"/>
            <a:ext cx="4741105" cy="54698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4" name="Group 14">
            <a:extLst>
              <a:ext uri="{FF2B5EF4-FFF2-40B4-BE49-F238E27FC236}">
                <a16:creationId xmlns:a16="http://schemas.microsoft.com/office/drawing/2014/main" id="{7CFA44D3-0F50-B961-FEFB-535AFE99AA42}"/>
              </a:ext>
            </a:extLst>
          </p:cNvPr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C81179F-0076-83DB-55EB-2E7073CE9447}"/>
                </a:ext>
              </a:extLst>
            </p:cNvPr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CD11048F-C532-3D28-A625-2B4DDD773775}"/>
                  </a:ext>
                </a:extLst>
              </p:cNvPr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43A15DF9-4BEE-B444-5C50-BE5C254E766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D2D561A-F8F8-AC38-2D59-9F5CAE86CBC4}"/>
                </a:ext>
              </a:extLst>
            </p:cNvPr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727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847523" y="-466769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581652" y="0"/>
            <a:ext cx="7610348" cy="6858000"/>
            <a:chOff x="0" y="0"/>
            <a:chExt cx="3395488" cy="27810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5488" cy="2781091"/>
            </a:xfrm>
            <a:custGeom>
              <a:avLst/>
              <a:gdLst/>
              <a:ahLst/>
              <a:cxnLst/>
              <a:rect l="l" t="t" r="r" b="b"/>
              <a:pathLst>
                <a:path w="3395488" h="2781091">
                  <a:moveTo>
                    <a:pt x="0" y="0"/>
                  </a:moveTo>
                  <a:lnTo>
                    <a:pt x="3395488" y="0"/>
                  </a:lnTo>
                  <a:lnTo>
                    <a:pt x="339548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79120" y="492639"/>
            <a:ext cx="8226757" cy="75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346"/>
              </a:lnSpc>
            </a:pPr>
            <a:r>
              <a:rPr lang="en-US" sz="2666" dirty="0" err="1">
                <a:solidFill>
                  <a:srgbClr val="FFFFFF"/>
                </a:solidFill>
                <a:latin typeface="Garet"/>
              </a:rPr>
              <a:t>Línea</a:t>
            </a:r>
            <a:r>
              <a:rPr lang="en-US" sz="2666" dirty="0">
                <a:solidFill>
                  <a:srgbClr val="FFFFFF"/>
                </a:solidFill>
                <a:latin typeface="Garet"/>
              </a:rPr>
              <a:t> de</a:t>
            </a:r>
          </a:p>
          <a:p>
            <a:pPr defTabSz="609630">
              <a:lnSpc>
                <a:spcPts val="3680"/>
              </a:lnSpc>
            </a:pPr>
            <a:r>
              <a:rPr lang="en-US" sz="3066" dirty="0">
                <a:solidFill>
                  <a:srgbClr val="FFFFFF"/>
                </a:solidFill>
                <a:latin typeface="Garet Bold"/>
              </a:rPr>
              <a:t>Desarrollo del </a:t>
            </a:r>
            <a:r>
              <a:rPr lang="en-US" sz="3066" dirty="0" err="1">
                <a:solidFill>
                  <a:srgbClr val="FFFFFF"/>
                </a:solidFill>
                <a:latin typeface="Garet Bold"/>
              </a:rPr>
              <a:t>proyecto</a:t>
            </a:r>
            <a:endParaRPr lang="en-US" sz="3066" dirty="0">
              <a:solidFill>
                <a:srgbClr val="FFFFFF"/>
              </a:solidFill>
              <a:latin typeface="Garet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818811" y="1600847"/>
            <a:ext cx="3019273" cy="4174262"/>
            <a:chOff x="0" y="0"/>
            <a:chExt cx="698500" cy="9657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71292"/>
              <a:ext cx="698500" cy="581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706"/>
                </a:lnSpc>
              </a:pPr>
              <a:r>
                <a:rPr lang="en-US" sz="1933" b="1" dirty="0" err="1">
                  <a:solidFill>
                    <a:srgbClr val="FFFFFF"/>
                  </a:solidFill>
                  <a:latin typeface="Garet Bold"/>
                </a:rPr>
                <a:t>Gemelo</a:t>
              </a:r>
              <a:r>
                <a:rPr lang="en-US" sz="1933" b="1" dirty="0">
                  <a:solidFill>
                    <a:srgbClr val="FFFFFF"/>
                  </a:solidFill>
                  <a:latin typeface="Garet Bold"/>
                </a:rPr>
                <a:t> digital de la </a:t>
              </a:r>
              <a:r>
                <a:rPr lang="en-US" sz="1933" b="1" dirty="0" err="1">
                  <a:solidFill>
                    <a:srgbClr val="FFFFFF"/>
                  </a:solidFill>
                  <a:latin typeface="Garet Bold"/>
                </a:rPr>
                <a:t>plataforma</a:t>
              </a:r>
              <a:endParaRPr lang="en-US" sz="1933" b="1" dirty="0">
                <a:solidFill>
                  <a:srgbClr val="FFFFFF"/>
                </a:solidFill>
                <a:latin typeface="Garet Bold"/>
              </a:endParaRPr>
            </a:p>
            <a:p>
              <a:pPr algn="ctr" defTabSz="609630">
                <a:lnSpc>
                  <a:spcPts val="2706"/>
                </a:lnSpc>
              </a:pPr>
              <a:endParaRPr lang="en-US" sz="1599" dirty="0">
                <a:solidFill>
                  <a:srgbClr val="FFFFFF"/>
                </a:solidFill>
                <a:latin typeface="Garet"/>
              </a:endParaRP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n-US" dirty="0" err="1">
                  <a:solidFill>
                    <a:srgbClr val="FFFFFF"/>
                  </a:solidFill>
                  <a:latin typeface="Garet"/>
                </a:rPr>
                <a:t>Modelado</a:t>
              </a:r>
              <a:r>
                <a:rPr lang="en-US" dirty="0">
                  <a:solidFill>
                    <a:srgbClr val="FFFFFF"/>
                  </a:solidFill>
                  <a:latin typeface="Garet"/>
                </a:rPr>
                <a:t> en solidworks</a:t>
              </a: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n-US" dirty="0" err="1">
                  <a:solidFill>
                    <a:srgbClr val="FFFFFF"/>
                  </a:solidFill>
                  <a:latin typeface="Garet"/>
                </a:rPr>
                <a:t>Implementación</a:t>
              </a:r>
              <a:r>
                <a:rPr lang="en-US" dirty="0">
                  <a:solidFill>
                    <a:srgbClr val="FFFFFF"/>
                  </a:solidFill>
                  <a:latin typeface="Garet"/>
                </a:rPr>
                <a:t> en </a:t>
              </a:r>
              <a:r>
                <a:rPr lang="en-US" dirty="0" err="1">
                  <a:solidFill>
                    <a:srgbClr val="FFFFFF"/>
                  </a:solidFill>
                  <a:latin typeface="Garet"/>
                </a:rPr>
                <a:t>simulink</a:t>
              </a:r>
              <a:r>
                <a:rPr lang="en-US" dirty="0">
                  <a:solidFill>
                    <a:srgbClr val="FFFFFF"/>
                  </a:solidFill>
                  <a:latin typeface="Garet"/>
                </a:rPr>
                <a:t>. [1]</a:t>
              </a: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Garet"/>
                </a:rPr>
                <a:t>PID [1]</a:t>
              </a: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algn="ctr" defTabSz="609630">
                <a:lnSpc>
                  <a:spcPts val="2706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 rot="-2625670">
            <a:off x="440685" y="5397357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0" name="Picture 13">
            <a:extLst>
              <a:ext uri="{FF2B5EF4-FFF2-40B4-BE49-F238E27FC236}">
                <a16:creationId xmlns:a16="http://schemas.microsoft.com/office/drawing/2014/main" id="{C66C334E-FF77-4D0B-97EA-01558EF981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787" y="374762"/>
            <a:ext cx="3446039" cy="3911721"/>
          </a:xfrm>
          <a:prstGeom prst="rect">
            <a:avLst/>
          </a:prstGeom>
        </p:spPr>
      </p:pic>
      <p:pic>
        <p:nvPicPr>
          <p:cNvPr id="21" name="Picture 9">
            <a:extLst>
              <a:ext uri="{FF2B5EF4-FFF2-40B4-BE49-F238E27FC236}">
                <a16:creationId xmlns:a16="http://schemas.microsoft.com/office/drawing/2014/main" id="{D1533579-5C34-44B8-BB4B-886B6CC191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627" y="675681"/>
            <a:ext cx="3208432" cy="330988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8808474-4AC3-46A1-95EE-63A8CC5AEA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4474" y="4873074"/>
            <a:ext cx="2276417" cy="126283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3F68494D-2A03-4260-B5CA-CA681241C6EC}"/>
              </a:ext>
            </a:extLst>
          </p:cNvPr>
          <p:cNvSpPr txBox="1"/>
          <p:nvPr/>
        </p:nvSpPr>
        <p:spPr>
          <a:xfrm>
            <a:off x="5064144" y="4333512"/>
            <a:ext cx="6001729" cy="514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lnSpc>
                <a:spcPts val="3432"/>
              </a:lnSpc>
            </a:pPr>
            <a:r>
              <a:rPr lang="en-US" sz="2800" b="1" dirty="0" err="1">
                <a:solidFill>
                  <a:srgbClr val="032D59"/>
                </a:solidFill>
                <a:latin typeface="Garet Bold"/>
              </a:rPr>
              <a:t>Controlador</a:t>
            </a:r>
            <a:r>
              <a:rPr lang="en-US" sz="2800" b="1" dirty="0">
                <a:solidFill>
                  <a:srgbClr val="032D59"/>
                </a:solidFill>
                <a:latin typeface="Garet Bold"/>
              </a:rPr>
              <a:t> PID MIMO</a:t>
            </a:r>
            <a:endParaRPr lang="en-US" sz="2400" b="1" dirty="0">
              <a:solidFill>
                <a:srgbClr val="032D59"/>
              </a:solidFill>
              <a:latin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68914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528382">
            <a:off x="-1752848" y="-438609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Freeform 23"/>
          <p:cNvSpPr/>
          <p:nvPr/>
        </p:nvSpPr>
        <p:spPr>
          <a:xfrm rot="16962522">
            <a:off x="6941927" y="256097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33E19D6E-306C-4F7B-820C-451F3B2BD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226" y="950253"/>
            <a:ext cx="4800089" cy="54904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8" name="Group 18"/>
          <p:cNvGrpSpPr/>
          <p:nvPr/>
        </p:nvGrpSpPr>
        <p:grpSpPr>
          <a:xfrm>
            <a:off x="-1928714" y="6440671"/>
            <a:ext cx="16048418" cy="419835"/>
            <a:chOff x="0" y="0"/>
            <a:chExt cx="32096836" cy="839669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266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847523" y="-466769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581652" y="0"/>
            <a:ext cx="7610348" cy="6858000"/>
            <a:chOff x="0" y="0"/>
            <a:chExt cx="3395488" cy="27810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5488" cy="2781091"/>
            </a:xfrm>
            <a:custGeom>
              <a:avLst/>
              <a:gdLst/>
              <a:ahLst/>
              <a:cxnLst/>
              <a:rect l="l" t="t" r="r" b="b"/>
              <a:pathLst>
                <a:path w="3395488" h="2781091">
                  <a:moveTo>
                    <a:pt x="0" y="0"/>
                  </a:moveTo>
                  <a:lnTo>
                    <a:pt x="3395488" y="0"/>
                  </a:lnTo>
                  <a:lnTo>
                    <a:pt x="339548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79120" y="492639"/>
            <a:ext cx="8226757" cy="75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346"/>
              </a:lnSpc>
            </a:pPr>
            <a:r>
              <a:rPr lang="en-US" sz="2666" dirty="0" err="1">
                <a:solidFill>
                  <a:srgbClr val="FFFFFF"/>
                </a:solidFill>
                <a:latin typeface="Garet"/>
              </a:rPr>
              <a:t>Línea</a:t>
            </a:r>
            <a:r>
              <a:rPr lang="en-US" sz="2666" dirty="0">
                <a:solidFill>
                  <a:srgbClr val="FFFFFF"/>
                </a:solidFill>
                <a:latin typeface="Garet"/>
              </a:rPr>
              <a:t> de</a:t>
            </a:r>
          </a:p>
          <a:p>
            <a:pPr defTabSz="609630">
              <a:lnSpc>
                <a:spcPts val="3680"/>
              </a:lnSpc>
            </a:pPr>
            <a:r>
              <a:rPr lang="en-US" sz="3066" dirty="0">
                <a:solidFill>
                  <a:srgbClr val="FFFFFF"/>
                </a:solidFill>
                <a:latin typeface="Garet Bold"/>
              </a:rPr>
              <a:t>Desarrollo del </a:t>
            </a:r>
            <a:r>
              <a:rPr lang="en-US" sz="3066" dirty="0" err="1">
                <a:solidFill>
                  <a:srgbClr val="FFFFFF"/>
                </a:solidFill>
                <a:latin typeface="Garet Bold"/>
              </a:rPr>
              <a:t>proyecto</a:t>
            </a:r>
            <a:endParaRPr lang="en-US" sz="3066" dirty="0">
              <a:solidFill>
                <a:srgbClr val="FFFFFF"/>
              </a:solidFill>
              <a:latin typeface="Garet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818811" y="1600847"/>
            <a:ext cx="3019273" cy="4174262"/>
            <a:chOff x="0" y="0"/>
            <a:chExt cx="698500" cy="9657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71292"/>
              <a:ext cx="698500" cy="581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706"/>
                </a:lnSpc>
              </a:pPr>
              <a:r>
                <a:rPr lang="en-US" sz="1933" b="1" dirty="0" err="1">
                  <a:solidFill>
                    <a:srgbClr val="FFFFFF"/>
                  </a:solidFill>
                  <a:latin typeface="Garet Bold"/>
                </a:rPr>
                <a:t>Controladores</a:t>
              </a:r>
              <a:endParaRPr lang="en-US" sz="1933" b="1" dirty="0">
                <a:solidFill>
                  <a:srgbClr val="FFFFFF"/>
                </a:solidFill>
                <a:latin typeface="Garet Bold"/>
              </a:endParaRPr>
            </a:p>
            <a:p>
              <a:pPr algn="ctr" defTabSz="609630">
                <a:lnSpc>
                  <a:spcPts val="2706"/>
                </a:lnSpc>
              </a:pPr>
              <a:endParaRPr lang="en-US" sz="1599" dirty="0">
                <a:solidFill>
                  <a:schemeClr val="bg1"/>
                </a:solidFill>
                <a:latin typeface="Garet"/>
              </a:endParaRP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s-CR" dirty="0">
                  <a:solidFill>
                    <a:schemeClr val="bg1"/>
                  </a:solidFill>
                </a:rPr>
                <a:t>Espectro Pierson-</a:t>
              </a:r>
              <a:r>
                <a:rPr lang="es-CR" dirty="0" err="1">
                  <a:solidFill>
                    <a:schemeClr val="bg1"/>
                  </a:solidFill>
                </a:rPr>
                <a:t>Moskowitz</a:t>
              </a:r>
              <a:r>
                <a:rPr lang="es-CR" dirty="0">
                  <a:solidFill>
                    <a:schemeClr val="bg1"/>
                  </a:solidFill>
                </a:rPr>
                <a:t> [2]</a:t>
              </a: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n-US" dirty="0" err="1">
                  <a:solidFill>
                    <a:srgbClr val="FFFFFF"/>
                  </a:solidFill>
                  <a:latin typeface="Garet"/>
                </a:rPr>
                <a:t>Modelo</a:t>
              </a:r>
              <a:r>
                <a:rPr lang="en-US" dirty="0">
                  <a:solidFill>
                    <a:srgbClr val="FFFFFF"/>
                  </a:solidFill>
                  <a:latin typeface="Garet"/>
                </a:rPr>
                <a:t> </a:t>
              </a:r>
              <a:r>
                <a:rPr lang="en-US" dirty="0" err="1">
                  <a:solidFill>
                    <a:srgbClr val="FFFFFF"/>
                  </a:solidFill>
                  <a:latin typeface="Garet"/>
                </a:rPr>
                <a:t>matemático</a:t>
              </a:r>
              <a:r>
                <a:rPr lang="en-US" dirty="0">
                  <a:solidFill>
                    <a:srgbClr val="FFFFFF"/>
                  </a:solidFill>
                  <a:latin typeface="Garet"/>
                </a:rPr>
                <a:t> [2]</a:t>
              </a: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n-US" dirty="0" err="1">
                  <a:solidFill>
                    <a:srgbClr val="FFFFFF"/>
                  </a:solidFill>
                  <a:latin typeface="Garet"/>
                </a:rPr>
                <a:t>Controlador</a:t>
              </a:r>
              <a:r>
                <a:rPr lang="en-US" dirty="0">
                  <a:solidFill>
                    <a:srgbClr val="FFFFFF"/>
                  </a:solidFill>
                  <a:latin typeface="Garet"/>
                </a:rPr>
                <a:t> LQR [2]</a:t>
              </a: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algn="ctr" defTabSz="609630">
                <a:lnSpc>
                  <a:spcPts val="2706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 rot="-2625670">
            <a:off x="440685" y="5397357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C9438C2-50B4-4B5C-BD20-FD6AB0211C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6315" y="773836"/>
            <a:ext cx="3520107" cy="1555289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07B8BA1E-1D66-464A-ABC2-E0D755C0E0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1293" y="3109580"/>
            <a:ext cx="3170775" cy="1254372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44E315D5-B201-4CFF-87A0-25452BD69E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6987" y="5414006"/>
            <a:ext cx="5140782" cy="704285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AF189E40-C9B8-40F5-8C6A-510873BF2E65}"/>
              </a:ext>
            </a:extLst>
          </p:cNvPr>
          <p:cNvSpPr txBox="1"/>
          <p:nvPr/>
        </p:nvSpPr>
        <p:spPr>
          <a:xfrm>
            <a:off x="5626693" y="2423077"/>
            <a:ext cx="4794032" cy="514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lnSpc>
                <a:spcPts val="3432"/>
              </a:lnSpc>
            </a:pPr>
            <a:r>
              <a:rPr lang="en-US" sz="2800" b="1" dirty="0">
                <a:solidFill>
                  <a:srgbClr val="032D59"/>
                </a:solidFill>
                <a:latin typeface="Garet Bold"/>
              </a:rPr>
              <a:t>Planta de control</a:t>
            </a:r>
            <a:endParaRPr lang="en-US" sz="2400" b="1" dirty="0">
              <a:solidFill>
                <a:srgbClr val="032D59"/>
              </a:solidFill>
              <a:latin typeface="Garet Bold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2C43B60-AA3C-4613-95ED-10128E9B0B52}"/>
              </a:ext>
            </a:extLst>
          </p:cNvPr>
          <p:cNvSpPr txBox="1"/>
          <p:nvPr/>
        </p:nvSpPr>
        <p:spPr>
          <a:xfrm>
            <a:off x="5669634" y="4727503"/>
            <a:ext cx="4794032" cy="514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lnSpc>
                <a:spcPts val="3432"/>
              </a:lnSpc>
            </a:pPr>
            <a:r>
              <a:rPr lang="en-US" sz="2800" b="1" dirty="0">
                <a:solidFill>
                  <a:srgbClr val="032D59"/>
                </a:solidFill>
                <a:latin typeface="Garet Bold"/>
              </a:rPr>
              <a:t>Modelo del piston [5]</a:t>
            </a:r>
            <a:endParaRPr lang="en-US" sz="2400" b="1" dirty="0">
              <a:solidFill>
                <a:srgbClr val="032D59"/>
              </a:solidFill>
              <a:latin typeface="Garet Bold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6B446CF-8217-44FF-B08D-1B02EADCE1D3}"/>
              </a:ext>
            </a:extLst>
          </p:cNvPr>
          <p:cNvSpPr txBox="1"/>
          <p:nvPr/>
        </p:nvSpPr>
        <p:spPr>
          <a:xfrm>
            <a:off x="4221228" y="234769"/>
            <a:ext cx="7541348" cy="514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lnSpc>
                <a:spcPts val="3432"/>
              </a:lnSpc>
            </a:pPr>
            <a:r>
              <a:rPr lang="en-US" sz="2800" b="1" dirty="0">
                <a:solidFill>
                  <a:srgbClr val="032D59"/>
                </a:solidFill>
                <a:latin typeface="Garet Bold"/>
              </a:rPr>
              <a:t>Modelo de Simulink</a:t>
            </a:r>
            <a:endParaRPr lang="en-US" sz="2400" b="1" dirty="0">
              <a:solidFill>
                <a:srgbClr val="032D59"/>
              </a:solidFill>
              <a:latin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61663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528382">
            <a:off x="-1752848" y="-438609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Freeform 23"/>
          <p:cNvSpPr/>
          <p:nvPr/>
        </p:nvSpPr>
        <p:spPr>
          <a:xfrm rot="16962522">
            <a:off x="6941927" y="256097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1928714" y="6440671"/>
            <a:ext cx="16048418" cy="419835"/>
            <a:chOff x="0" y="0"/>
            <a:chExt cx="32096836" cy="839669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39133CEC-D109-4524-A217-E7639B6644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0689" y="966338"/>
            <a:ext cx="4834477" cy="547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847523" y="-4667693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581652" y="0"/>
            <a:ext cx="7610348" cy="6858000"/>
            <a:chOff x="0" y="0"/>
            <a:chExt cx="3395488" cy="27810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5488" cy="2781091"/>
            </a:xfrm>
            <a:custGeom>
              <a:avLst/>
              <a:gdLst/>
              <a:ahLst/>
              <a:cxnLst/>
              <a:rect l="l" t="t" r="r" b="b"/>
              <a:pathLst>
                <a:path w="3395488" h="2781091">
                  <a:moveTo>
                    <a:pt x="0" y="0"/>
                  </a:moveTo>
                  <a:lnTo>
                    <a:pt x="3395488" y="0"/>
                  </a:lnTo>
                  <a:lnTo>
                    <a:pt x="339548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79120" y="492639"/>
            <a:ext cx="8226757" cy="75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346"/>
              </a:lnSpc>
            </a:pPr>
            <a:r>
              <a:rPr lang="en-US" sz="2666" dirty="0" err="1">
                <a:solidFill>
                  <a:srgbClr val="FFFFFF"/>
                </a:solidFill>
                <a:latin typeface="Garet"/>
              </a:rPr>
              <a:t>Línea</a:t>
            </a:r>
            <a:r>
              <a:rPr lang="en-US" sz="2666" dirty="0">
                <a:solidFill>
                  <a:srgbClr val="FFFFFF"/>
                </a:solidFill>
                <a:latin typeface="Garet"/>
              </a:rPr>
              <a:t> de</a:t>
            </a:r>
          </a:p>
          <a:p>
            <a:pPr defTabSz="609630">
              <a:lnSpc>
                <a:spcPts val="3680"/>
              </a:lnSpc>
            </a:pPr>
            <a:r>
              <a:rPr lang="en-US" sz="3066" dirty="0">
                <a:solidFill>
                  <a:srgbClr val="FFFFFF"/>
                </a:solidFill>
                <a:latin typeface="Garet Bold"/>
              </a:rPr>
              <a:t>Desarrollo del </a:t>
            </a:r>
            <a:r>
              <a:rPr lang="en-US" sz="3066" dirty="0" err="1">
                <a:solidFill>
                  <a:srgbClr val="FFFFFF"/>
                </a:solidFill>
                <a:latin typeface="Garet Bold"/>
              </a:rPr>
              <a:t>proyecto</a:t>
            </a:r>
            <a:endParaRPr lang="en-US" sz="3066" dirty="0">
              <a:solidFill>
                <a:srgbClr val="FFFFFF"/>
              </a:solidFill>
              <a:latin typeface="Garet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818811" y="1600847"/>
            <a:ext cx="3019273" cy="4174262"/>
            <a:chOff x="0" y="0"/>
            <a:chExt cx="698500" cy="9657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965703"/>
            </a:xfrm>
            <a:custGeom>
              <a:avLst/>
              <a:gdLst/>
              <a:ahLst/>
              <a:cxnLst/>
              <a:rect l="l" t="t" r="r" b="b"/>
              <a:pathLst>
                <a:path w="698500" h="965703">
                  <a:moveTo>
                    <a:pt x="349250" y="0"/>
                  </a:moveTo>
                  <a:lnTo>
                    <a:pt x="698500" y="203200"/>
                  </a:lnTo>
                  <a:lnTo>
                    <a:pt x="698500" y="762503"/>
                  </a:lnTo>
                  <a:lnTo>
                    <a:pt x="349250" y="965703"/>
                  </a:lnTo>
                  <a:lnTo>
                    <a:pt x="0" y="762503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32D59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71292"/>
              <a:ext cx="698500" cy="581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706"/>
                </a:lnSpc>
              </a:pPr>
              <a:r>
                <a:rPr lang="en-US" sz="1933" b="1" dirty="0" err="1">
                  <a:solidFill>
                    <a:srgbClr val="FFFFFF"/>
                  </a:solidFill>
                  <a:latin typeface="Garet Bold"/>
                </a:rPr>
                <a:t>Controladores</a:t>
              </a:r>
              <a:endParaRPr lang="en-US" sz="1933" b="1" dirty="0">
                <a:solidFill>
                  <a:srgbClr val="FFFFFF"/>
                </a:solidFill>
                <a:latin typeface="Garet Bold"/>
              </a:endParaRPr>
            </a:p>
            <a:p>
              <a:pPr algn="ctr" defTabSz="609630">
                <a:lnSpc>
                  <a:spcPts val="2706"/>
                </a:lnSpc>
              </a:pPr>
              <a:endParaRPr lang="en-US" sz="1599" dirty="0">
                <a:solidFill>
                  <a:srgbClr val="FFFFFF"/>
                </a:solidFill>
                <a:latin typeface="Garet"/>
              </a:endParaRP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n-US" dirty="0" err="1">
                  <a:solidFill>
                    <a:srgbClr val="FFFFFF"/>
                  </a:solidFill>
                  <a:latin typeface="Garet"/>
                </a:rPr>
                <a:t>Identificaci</a:t>
              </a:r>
              <a:r>
                <a:rPr lang="es-CR" dirty="0" err="1">
                  <a:solidFill>
                    <a:srgbClr val="FFFFFF"/>
                  </a:solidFill>
                  <a:latin typeface="Garet"/>
                </a:rPr>
                <a:t>ón</a:t>
              </a:r>
              <a:r>
                <a:rPr lang="es-CR" dirty="0">
                  <a:solidFill>
                    <a:srgbClr val="FFFFFF"/>
                  </a:solidFill>
                  <a:latin typeface="Garet"/>
                </a:rPr>
                <a:t> de la planta </a:t>
              </a:r>
              <a:r>
                <a:rPr lang="en-US" dirty="0">
                  <a:solidFill>
                    <a:srgbClr val="FFFFFF"/>
                  </a:solidFill>
                  <a:latin typeface="Garet"/>
                </a:rPr>
                <a:t>[6]</a:t>
              </a: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Garet"/>
                </a:rPr>
                <a:t>LQR [2][6]</a:t>
              </a:r>
            </a:p>
            <a:p>
              <a:pPr marL="273486" lvl="1" indent="-136744" defTabSz="609630">
                <a:lnSpc>
                  <a:spcPts val="1773"/>
                </a:lnSpc>
                <a:buFont typeface="Arial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Garet"/>
                </a:rPr>
                <a:t>PiL  [6]</a:t>
              </a: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defTabSz="609630">
                <a:lnSpc>
                  <a:spcPts val="2333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  <a:p>
              <a:pPr algn="ctr" defTabSz="609630">
                <a:lnSpc>
                  <a:spcPts val="2706"/>
                </a:lnSpc>
              </a:pPr>
              <a:endParaRPr lang="en-US" sz="1266" dirty="0">
                <a:solidFill>
                  <a:srgbClr val="FFFFFF"/>
                </a:solidFill>
                <a:latin typeface="Garet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 rot="-2625670">
            <a:off x="440685" y="5397357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6B446CF-8217-44FF-B08D-1B02EADCE1D3}"/>
              </a:ext>
            </a:extLst>
          </p:cNvPr>
          <p:cNvSpPr txBox="1"/>
          <p:nvPr/>
        </p:nvSpPr>
        <p:spPr>
          <a:xfrm>
            <a:off x="4418105" y="1063414"/>
            <a:ext cx="7541348" cy="514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lnSpc>
                <a:spcPts val="3432"/>
              </a:lnSpc>
            </a:pPr>
            <a:r>
              <a:rPr lang="en-US" sz="2800" b="1" dirty="0">
                <a:solidFill>
                  <a:srgbClr val="032D59"/>
                </a:solidFill>
                <a:latin typeface="Garet Bold"/>
              </a:rPr>
              <a:t>Modelo de Simulink</a:t>
            </a:r>
            <a:endParaRPr lang="en-US" sz="2400" b="1" dirty="0">
              <a:solidFill>
                <a:srgbClr val="032D59"/>
              </a:solidFill>
              <a:latin typeface="Garet Bold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4B08977-9110-47BC-A004-5CC5CA0E46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990" y="1736922"/>
            <a:ext cx="7411666" cy="338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0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38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ABD99-C98C-2F57-8E00-A46F8F06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92A8BF4A-421F-62BE-F7D0-58E0E70CA6BB}"/>
              </a:ext>
            </a:extLst>
          </p:cNvPr>
          <p:cNvSpPr/>
          <p:nvPr/>
        </p:nvSpPr>
        <p:spPr>
          <a:xfrm rot="-10800000">
            <a:off x="-2583782" y="-4666532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2" y="0"/>
                </a:lnTo>
                <a:lnTo>
                  <a:pt x="10872002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0B096481-6A5E-A95F-B473-025B80BEBB2E}"/>
              </a:ext>
            </a:extLst>
          </p:cNvPr>
          <p:cNvGrpSpPr>
            <a:grpSpLocks/>
          </p:cNvGrpSpPr>
          <p:nvPr/>
        </p:nvGrpSpPr>
        <p:grpSpPr>
          <a:xfrm>
            <a:off x="1388763" y="-132079"/>
            <a:ext cx="10803237" cy="6990080"/>
            <a:chOff x="-404981" y="-38100"/>
            <a:chExt cx="4438689" cy="281919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8270B17-97B1-C449-2A5F-3E0B97DF799E}"/>
                </a:ext>
              </a:extLst>
            </p:cNvPr>
            <p:cNvSpPr>
              <a:spLocks/>
            </p:cNvSpPr>
            <p:nvPr/>
          </p:nvSpPr>
          <p:spPr>
            <a:xfrm>
              <a:off x="-404981" y="0"/>
              <a:ext cx="4438689" cy="2781091"/>
            </a:xfrm>
            <a:custGeom>
              <a:avLst/>
              <a:gdLst/>
              <a:ahLst/>
              <a:cxnLst/>
              <a:rect l="l" t="t" r="r" b="b"/>
              <a:pathLst>
                <a:path w="4033708" h="2781091">
                  <a:moveTo>
                    <a:pt x="0" y="0"/>
                  </a:moveTo>
                  <a:lnTo>
                    <a:pt x="4033708" y="0"/>
                  </a:lnTo>
                  <a:lnTo>
                    <a:pt x="4033708" y="2781091"/>
                  </a:lnTo>
                  <a:lnTo>
                    <a:pt x="0" y="2781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DC7ACD0-C092-080D-8E52-FEA3CE181CBE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9DCBF76-098B-9BE3-BC9C-A16F178F543A}"/>
              </a:ext>
            </a:extLst>
          </p:cNvPr>
          <p:cNvSpPr/>
          <p:nvPr/>
        </p:nvSpPr>
        <p:spPr>
          <a:xfrm rot="-2625670">
            <a:off x="231709" y="378865"/>
            <a:ext cx="694823" cy="738191"/>
          </a:xfrm>
          <a:custGeom>
            <a:avLst/>
            <a:gdLst/>
            <a:ahLst/>
            <a:cxnLst/>
            <a:rect l="l" t="t" r="r" b="b"/>
            <a:pathLst>
              <a:path w="1042234" h="1107287">
                <a:moveTo>
                  <a:pt x="0" y="0"/>
                </a:moveTo>
                <a:lnTo>
                  <a:pt x="1042234" y="0"/>
                </a:lnTo>
                <a:lnTo>
                  <a:pt x="1042234" y="1107287"/>
                </a:lnTo>
                <a:lnTo>
                  <a:pt x="0" y="11072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4C0BC7D-D8E7-9FDD-6DCF-B7608B738C10}"/>
              </a:ext>
            </a:extLst>
          </p:cNvPr>
          <p:cNvGrpSpPr/>
          <p:nvPr/>
        </p:nvGrpSpPr>
        <p:grpSpPr>
          <a:xfrm>
            <a:off x="-1928209" y="6366244"/>
            <a:ext cx="16048418" cy="2153835"/>
            <a:chOff x="0" y="-192881"/>
            <a:chExt cx="32096836" cy="4307669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36C5008-F97D-20BA-821D-F5823698945D}"/>
                </a:ext>
              </a:extLst>
            </p:cNvPr>
            <p:cNvGrpSpPr/>
            <p:nvPr/>
          </p:nvGrpSpPr>
          <p:grpSpPr>
            <a:xfrm>
              <a:off x="0" y="-192881"/>
              <a:ext cx="32096836" cy="4307669"/>
              <a:chOff x="0" y="-38100"/>
              <a:chExt cx="6340116" cy="8509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DCD63E6-F5F5-5B56-EE5A-16C7DCFAC8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38471" y="0"/>
                <a:ext cx="4501645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C69F4DF-6777-AFA1-54C3-AD7E4B9848C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591CB98-4683-2C97-1F0C-DA01BA7D1AFC}"/>
                </a:ext>
              </a:extLst>
            </p:cNvPr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821BC87-35BB-4FB2-8B35-451F99760C95}"/>
              </a:ext>
            </a:extLst>
          </p:cNvPr>
          <p:cNvSpPr txBox="1"/>
          <p:nvPr/>
        </p:nvSpPr>
        <p:spPr>
          <a:xfrm>
            <a:off x="208692" y="335354"/>
            <a:ext cx="8428074" cy="501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lnSpc>
                <a:spcPts val="3432"/>
              </a:lnSpc>
            </a:pPr>
            <a:r>
              <a:rPr lang="en-US" sz="2800" b="1" dirty="0">
                <a:solidFill>
                  <a:srgbClr val="032D59"/>
                </a:solidFill>
                <a:latin typeface="Garet Bold"/>
              </a:rPr>
              <a:t>RESULTADOS</a:t>
            </a:r>
            <a:endParaRPr lang="en-US" sz="2400" b="1" dirty="0">
              <a:solidFill>
                <a:srgbClr val="032D59"/>
              </a:solidFill>
              <a:latin typeface="Garet Bold"/>
            </a:endParaRPr>
          </a:p>
        </p:txBody>
      </p:sp>
      <p:pic>
        <p:nvPicPr>
          <p:cNvPr id="5" name="2026-08-12 00-04-26">
            <a:hlinkClick r:id="" action="ppaction://media"/>
            <a:extLst>
              <a:ext uri="{FF2B5EF4-FFF2-40B4-BE49-F238E27FC236}">
                <a16:creationId xmlns:a16="http://schemas.microsoft.com/office/drawing/2014/main" id="{643BB374-7EB5-4388-8308-2E7782B221CD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108" end="24727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535162" y="1459525"/>
            <a:ext cx="4258113" cy="4258113"/>
          </a:xfrm>
          <a:prstGeom prst="rect">
            <a:avLst/>
          </a:prstGeom>
        </p:spPr>
      </p:pic>
      <p:pic>
        <p:nvPicPr>
          <p:cNvPr id="19" name="Marlup">
            <a:hlinkClick r:id="" action="ppaction://media"/>
            <a:extLst>
              <a:ext uri="{FF2B5EF4-FFF2-40B4-BE49-F238E27FC236}">
                <a16:creationId xmlns:a16="http://schemas.microsoft.com/office/drawing/2014/main" id="{DA90E3B9-44CC-4F78-8C13-700C300EDE4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7854976" y="647631"/>
            <a:ext cx="3238038" cy="575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2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3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139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1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59317" y="4689764"/>
            <a:ext cx="7248002" cy="7354983"/>
          </a:xfrm>
          <a:custGeom>
            <a:avLst/>
            <a:gdLst/>
            <a:ahLst/>
            <a:cxnLst/>
            <a:rect l="l" t="t" r="r" b="b"/>
            <a:pathLst>
              <a:path w="10872003" h="11032475">
                <a:moveTo>
                  <a:pt x="0" y="0"/>
                </a:moveTo>
                <a:lnTo>
                  <a:pt x="10872003" y="0"/>
                </a:lnTo>
                <a:lnTo>
                  <a:pt x="10872003" y="11032475"/>
                </a:lnTo>
                <a:lnTo>
                  <a:pt x="0" y="1103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 rot="-5400000">
            <a:off x="9806807" y="4486867"/>
            <a:ext cx="1251135" cy="1329227"/>
          </a:xfrm>
          <a:custGeom>
            <a:avLst/>
            <a:gdLst/>
            <a:ahLst/>
            <a:cxnLst/>
            <a:rect l="l" t="t" r="r" b="b"/>
            <a:pathLst>
              <a:path w="1876702" h="1993841">
                <a:moveTo>
                  <a:pt x="0" y="0"/>
                </a:moveTo>
                <a:lnTo>
                  <a:pt x="1876702" y="0"/>
                </a:lnTo>
                <a:lnTo>
                  <a:pt x="1876702" y="1993841"/>
                </a:lnTo>
                <a:lnTo>
                  <a:pt x="0" y="1993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62411" y="1400000"/>
            <a:ext cx="10080339" cy="331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344" lvl="1" indent="-311344" algn="just" defTabSz="609630">
              <a:lnSpc>
                <a:spcPts val="2019"/>
              </a:lnSpc>
              <a:spcBef>
                <a:spcPct val="0"/>
              </a:spcBef>
              <a:buNone/>
            </a:pPr>
            <a:r>
              <a:rPr lang="es-CR" sz="1400" dirty="0">
                <a:solidFill>
                  <a:srgbClr val="032D59"/>
                </a:solidFill>
                <a:latin typeface="Garet"/>
              </a:rPr>
              <a:t>[1]	H. González y K. Guerrero, “Sistema de Control Activo para la Estabilización de la Plataforma MARLUP,” Instituto Tecnológico de Costa Rica, 2025.</a:t>
            </a:r>
          </a:p>
          <a:p>
            <a:pPr marL="311344" lvl="1" indent="-311344" algn="just" defTabSz="609630">
              <a:lnSpc>
                <a:spcPts val="2019"/>
              </a:lnSpc>
              <a:spcBef>
                <a:spcPct val="0"/>
              </a:spcBef>
              <a:buNone/>
            </a:pPr>
            <a:r>
              <a:rPr lang="es-CR" sz="1400" dirty="0">
                <a:solidFill>
                  <a:srgbClr val="032D59"/>
                </a:solidFill>
                <a:latin typeface="Garet"/>
              </a:rPr>
              <a:t>[2]	Á. Pérez Mora y W. Smith Hernández, “Avance Final — MARLUP: Control </a:t>
            </a:r>
            <a:r>
              <a:rPr lang="es-CR" sz="1400" dirty="0" err="1">
                <a:solidFill>
                  <a:srgbClr val="032D59"/>
                </a:solidFill>
                <a:latin typeface="Garet"/>
              </a:rPr>
              <a:t>Stage</a:t>
            </a:r>
            <a:r>
              <a:rPr lang="es-CR" sz="1400" dirty="0">
                <a:solidFill>
                  <a:srgbClr val="032D59"/>
                </a:solidFill>
                <a:latin typeface="Garet"/>
              </a:rPr>
              <a:t> 2,” Laboratorio de Control Automático, Instituto Tecnológico de Costa Rica, 2025.</a:t>
            </a:r>
          </a:p>
          <a:p>
            <a:pPr marL="311344" lvl="1" indent="-311344" algn="just" defTabSz="609630">
              <a:lnSpc>
                <a:spcPts val="2019"/>
              </a:lnSpc>
              <a:spcBef>
                <a:spcPct val="0"/>
              </a:spcBef>
              <a:buNone/>
            </a:pPr>
            <a:r>
              <a:rPr lang="es-CR" sz="1400" dirty="0">
                <a:solidFill>
                  <a:srgbClr val="032D59"/>
                </a:solidFill>
                <a:latin typeface="Garet"/>
              </a:rPr>
              <a:t>[3]	Instituto Geográfico Nacional, “Estado actual de los límites marítimos de Costa Rica,” Registro Nacional, Costa Rica. [En línea]. Disponible: https://www.rnpdigital.com/Estado%20Limites%20Maritimos%20de%20CR-IGN.pdf</a:t>
            </a:r>
          </a:p>
          <a:p>
            <a:pPr marL="311344" lvl="1" indent="-311344" algn="just" defTabSz="609630">
              <a:lnSpc>
                <a:spcPts val="2019"/>
              </a:lnSpc>
              <a:spcBef>
                <a:spcPct val="0"/>
              </a:spcBef>
              <a:buNone/>
            </a:pPr>
            <a:r>
              <a:rPr lang="es-CR" sz="1400" dirty="0">
                <a:solidFill>
                  <a:srgbClr val="032D59"/>
                </a:solidFill>
                <a:latin typeface="Garet"/>
              </a:rPr>
              <a:t>[4]	Sistema Nacional de Áreas de Conservación, “SINAC en Números: Informe anual de estadísticas SEMEC,” Costa Rica.</a:t>
            </a:r>
          </a:p>
          <a:p>
            <a:pPr marL="311344" lvl="1" indent="-311344" algn="just" defTabSz="609630">
              <a:lnSpc>
                <a:spcPts val="2019"/>
              </a:lnSpc>
              <a:spcBef>
                <a:spcPct val="0"/>
              </a:spcBef>
              <a:buNone/>
            </a:pPr>
            <a:r>
              <a:rPr lang="es-CR" sz="1400" dirty="0">
                <a:solidFill>
                  <a:srgbClr val="032D59"/>
                </a:solidFill>
                <a:latin typeface="Garet"/>
              </a:rPr>
              <a:t>[5]	Bosch </a:t>
            </a:r>
            <a:r>
              <a:rPr lang="es-CR" sz="1400" dirty="0" err="1">
                <a:solidFill>
                  <a:srgbClr val="032D59"/>
                </a:solidFill>
                <a:latin typeface="Garet"/>
              </a:rPr>
              <a:t>Rexroth</a:t>
            </a:r>
            <a:r>
              <a:rPr lang="es-CR" sz="1400" dirty="0">
                <a:solidFill>
                  <a:srgbClr val="032D59"/>
                </a:solidFill>
                <a:latin typeface="Garet"/>
              </a:rPr>
              <a:t> AG, “</a:t>
            </a:r>
            <a:r>
              <a:rPr lang="es-CR" sz="1400" dirty="0" err="1">
                <a:solidFill>
                  <a:srgbClr val="032D59"/>
                </a:solidFill>
                <a:latin typeface="Garet"/>
              </a:rPr>
              <a:t>Hydraulic</a:t>
            </a:r>
            <a:r>
              <a:rPr lang="es-CR" sz="1400" dirty="0">
                <a:solidFill>
                  <a:srgbClr val="032D59"/>
                </a:solidFill>
                <a:latin typeface="Garet"/>
              </a:rPr>
              <a:t> </a:t>
            </a:r>
            <a:r>
              <a:rPr lang="es-CR" sz="1400" dirty="0" err="1">
                <a:solidFill>
                  <a:srgbClr val="032D59"/>
                </a:solidFill>
                <a:latin typeface="Garet"/>
              </a:rPr>
              <a:t>cylinder</a:t>
            </a:r>
            <a:r>
              <a:rPr lang="es-CR" sz="1400" dirty="0">
                <a:solidFill>
                  <a:srgbClr val="032D59"/>
                </a:solidFill>
                <a:latin typeface="Garet"/>
              </a:rPr>
              <a:t>, </a:t>
            </a:r>
            <a:r>
              <a:rPr lang="es-CR" sz="1400" dirty="0" err="1">
                <a:solidFill>
                  <a:srgbClr val="032D59"/>
                </a:solidFill>
                <a:latin typeface="Garet"/>
              </a:rPr>
              <a:t>mill</a:t>
            </a:r>
            <a:r>
              <a:rPr lang="es-CR" sz="1400" dirty="0">
                <a:solidFill>
                  <a:srgbClr val="032D59"/>
                </a:solidFill>
                <a:latin typeface="Garet"/>
              </a:rPr>
              <a:t> </a:t>
            </a:r>
            <a:r>
              <a:rPr lang="es-CR" sz="1400" dirty="0" err="1">
                <a:solidFill>
                  <a:srgbClr val="032D59"/>
                </a:solidFill>
                <a:latin typeface="Garet"/>
              </a:rPr>
              <a:t>type</a:t>
            </a:r>
            <a:r>
              <a:rPr lang="es-CR" sz="1400" dirty="0">
                <a:solidFill>
                  <a:srgbClr val="032D59"/>
                </a:solidFill>
                <a:latin typeface="Garet"/>
              </a:rPr>
              <a:t>, series CDH1/CGH1,” Hoja de datos RE 17331, </a:t>
            </a:r>
            <a:r>
              <a:rPr lang="es-CR" sz="1400" dirty="0" err="1">
                <a:solidFill>
                  <a:srgbClr val="032D59"/>
                </a:solidFill>
                <a:latin typeface="Garet"/>
              </a:rPr>
              <a:t>Lohr</a:t>
            </a:r>
            <a:r>
              <a:rPr lang="es-CR" sz="1400" dirty="0">
                <a:solidFill>
                  <a:srgbClr val="032D59"/>
                </a:solidFill>
                <a:latin typeface="Garet"/>
              </a:rPr>
              <a:t> am </a:t>
            </a:r>
            <a:r>
              <a:rPr lang="es-CR" sz="1400" dirty="0" err="1">
                <a:solidFill>
                  <a:srgbClr val="032D59"/>
                </a:solidFill>
                <a:latin typeface="Garet"/>
              </a:rPr>
              <a:t>Main</a:t>
            </a:r>
            <a:r>
              <a:rPr lang="es-CR" sz="1400" dirty="0">
                <a:solidFill>
                  <a:srgbClr val="032D59"/>
                </a:solidFill>
                <a:latin typeface="Garet"/>
              </a:rPr>
              <a:t>, Alemania, 2005.</a:t>
            </a:r>
          </a:p>
          <a:p>
            <a:pPr marL="311344" lvl="1" indent="-311344" algn="just" defTabSz="609630">
              <a:lnSpc>
                <a:spcPts val="2019"/>
              </a:lnSpc>
              <a:spcBef>
                <a:spcPct val="0"/>
              </a:spcBef>
              <a:buNone/>
            </a:pPr>
            <a:r>
              <a:rPr lang="es-CR" sz="1400" dirty="0">
                <a:latin typeface="Garet" panose="020B0604020202020204"/>
              </a:rPr>
              <a:t>[6]   Á. Pérez Mora, A. D. Salas Alvarado y W. Smith Hernández, "</a:t>
            </a:r>
            <a:r>
              <a:rPr lang="es-CR" sz="1400" dirty="0" err="1">
                <a:latin typeface="Garet" panose="020B0604020202020204"/>
              </a:rPr>
              <a:t>Development</a:t>
            </a:r>
            <a:r>
              <a:rPr lang="es-CR" sz="1400" dirty="0">
                <a:latin typeface="Garet" panose="020B0604020202020204"/>
              </a:rPr>
              <a:t> </a:t>
            </a:r>
            <a:r>
              <a:rPr lang="es-CR" sz="1400" dirty="0" err="1">
                <a:latin typeface="Garet" panose="020B0604020202020204"/>
              </a:rPr>
              <a:t>of</a:t>
            </a:r>
            <a:r>
              <a:rPr lang="es-CR" sz="1400" dirty="0">
                <a:latin typeface="Garet" panose="020B0604020202020204"/>
              </a:rPr>
              <a:t> </a:t>
            </a:r>
            <a:r>
              <a:rPr lang="es-CR" sz="1400" dirty="0" err="1">
                <a:latin typeface="Garet" panose="020B0604020202020204"/>
              </a:rPr>
              <a:t>an</a:t>
            </a:r>
            <a:r>
              <a:rPr lang="es-CR" sz="1400" dirty="0">
                <a:latin typeface="Garet" panose="020B0604020202020204"/>
              </a:rPr>
              <a:t> </a:t>
            </a:r>
            <a:r>
              <a:rPr lang="es-CR" sz="1400" dirty="0" err="1">
                <a:latin typeface="Garet" panose="020B0604020202020204"/>
              </a:rPr>
              <a:t>Actively</a:t>
            </a:r>
            <a:r>
              <a:rPr lang="es-CR" sz="1400" dirty="0">
                <a:latin typeface="Garet" panose="020B0604020202020204"/>
              </a:rPr>
              <a:t> </a:t>
            </a:r>
            <a:r>
              <a:rPr lang="es-CR" sz="1400" dirty="0" err="1">
                <a:latin typeface="Garet" panose="020B0604020202020204"/>
              </a:rPr>
              <a:t>Stabilized</a:t>
            </a:r>
            <a:r>
              <a:rPr lang="es-CR" sz="1400" dirty="0">
                <a:latin typeface="Garet" panose="020B0604020202020204"/>
              </a:rPr>
              <a:t> Marine </a:t>
            </a:r>
            <a:r>
              <a:rPr lang="es-CR" sz="1400" dirty="0" err="1">
                <a:latin typeface="Garet" panose="020B0604020202020204"/>
              </a:rPr>
              <a:t>Launch</a:t>
            </a:r>
            <a:r>
              <a:rPr lang="es-CR" sz="1400" dirty="0">
                <a:latin typeface="Garet" panose="020B0604020202020204"/>
              </a:rPr>
              <a:t> </a:t>
            </a:r>
            <a:r>
              <a:rPr lang="es-CR" sz="1400" dirty="0" err="1">
                <a:latin typeface="Garet" panose="020B0604020202020204"/>
              </a:rPr>
              <a:t>Platform</a:t>
            </a:r>
            <a:r>
              <a:rPr lang="es-CR" sz="1400" dirty="0">
                <a:latin typeface="Garet" panose="020B0604020202020204"/>
              </a:rPr>
              <a:t> </a:t>
            </a:r>
            <a:r>
              <a:rPr lang="es-CR" sz="1400" dirty="0" err="1">
                <a:latin typeface="Garet" panose="020B0604020202020204"/>
              </a:rPr>
              <a:t>for</a:t>
            </a:r>
            <a:r>
              <a:rPr lang="es-CR" sz="1400" dirty="0">
                <a:latin typeface="Garet" panose="020B0604020202020204"/>
              </a:rPr>
              <a:t> Small </a:t>
            </a:r>
            <a:r>
              <a:rPr lang="es-CR" sz="1400" dirty="0" err="1">
                <a:latin typeface="Garet" panose="020B0604020202020204"/>
              </a:rPr>
              <a:t>Rocket</a:t>
            </a:r>
            <a:r>
              <a:rPr lang="es-CR" sz="1400" dirty="0">
                <a:latin typeface="Garet" panose="020B0604020202020204"/>
              </a:rPr>
              <a:t> </a:t>
            </a:r>
            <a:r>
              <a:rPr lang="es-CR" sz="1400" dirty="0" err="1">
                <a:latin typeface="Garet" panose="020B0604020202020204"/>
              </a:rPr>
              <a:t>Launch</a:t>
            </a:r>
            <a:r>
              <a:rPr lang="es-CR" sz="1400" dirty="0">
                <a:latin typeface="Garet" panose="020B0604020202020204"/>
              </a:rPr>
              <a:t> </a:t>
            </a:r>
            <a:r>
              <a:rPr lang="es-CR" sz="1400" dirty="0" err="1">
                <a:latin typeface="Garet" panose="020B0604020202020204"/>
              </a:rPr>
              <a:t>Operations</a:t>
            </a:r>
            <a:r>
              <a:rPr lang="es-CR" sz="1400" dirty="0">
                <a:latin typeface="Garet" panose="020B0604020202020204"/>
              </a:rPr>
              <a:t>," presentado en el </a:t>
            </a:r>
            <a:r>
              <a:rPr lang="es-CR" sz="1400" i="1" dirty="0">
                <a:latin typeface="Garet" panose="020B0604020202020204"/>
              </a:rPr>
              <a:t>77th International </a:t>
            </a:r>
            <a:r>
              <a:rPr lang="es-CR" sz="1400" i="1" dirty="0" err="1">
                <a:latin typeface="Garet" panose="020B0604020202020204"/>
              </a:rPr>
              <a:t>Astronautical</a:t>
            </a:r>
            <a:r>
              <a:rPr lang="es-CR" sz="1400" i="1" dirty="0">
                <a:latin typeface="Garet" panose="020B0604020202020204"/>
              </a:rPr>
              <a:t> </a:t>
            </a:r>
            <a:r>
              <a:rPr lang="es-CR" sz="1400" i="1" dirty="0" err="1">
                <a:latin typeface="Garet" panose="020B0604020202020204"/>
              </a:rPr>
              <a:t>Congress</a:t>
            </a:r>
            <a:r>
              <a:rPr lang="es-CR" sz="1400" i="1" dirty="0">
                <a:latin typeface="Garet" panose="020B0604020202020204"/>
              </a:rPr>
              <a:t> (IAC)</a:t>
            </a:r>
            <a:r>
              <a:rPr lang="es-CR" sz="1400" dirty="0">
                <a:latin typeface="Garet" panose="020B0604020202020204"/>
              </a:rPr>
              <a:t>, Antalya, </a:t>
            </a:r>
            <a:r>
              <a:rPr lang="es-CR" sz="1400" dirty="0" err="1">
                <a:latin typeface="Garet" panose="020B0604020202020204"/>
              </a:rPr>
              <a:t>Türkiye</a:t>
            </a:r>
            <a:r>
              <a:rPr lang="es-CR" sz="1400" dirty="0">
                <a:latin typeface="Garet" panose="020B0604020202020204"/>
              </a:rPr>
              <a:t>, 5–9 oct. 2026, artículo IAC-26,D2,2,12,x114322.</a:t>
            </a:r>
          </a:p>
          <a:p>
            <a:pPr marL="311344" lvl="1" indent="-311344" algn="just" defTabSz="609630">
              <a:lnSpc>
                <a:spcPts val="2019"/>
              </a:lnSpc>
              <a:spcBef>
                <a:spcPct val="0"/>
              </a:spcBef>
              <a:buNone/>
            </a:pPr>
            <a:r>
              <a:rPr lang="es-CR" sz="1400" dirty="0">
                <a:solidFill>
                  <a:srgbClr val="032D59"/>
                </a:solidFill>
                <a:latin typeface="Garet" panose="020B0604020202020204"/>
              </a:rPr>
              <a:t>[7]   A. Pérez, D. Mena, M. Loaiza, J. Rojas y P. Meza, </a:t>
            </a:r>
            <a:r>
              <a:rPr lang="en-US" sz="1400" dirty="0">
                <a:solidFill>
                  <a:srgbClr val="032D59"/>
                </a:solidFill>
                <a:latin typeface="Garet" panose="020B0604020202020204"/>
              </a:rPr>
              <a:t>“An</a:t>
            </a:r>
            <a:r>
              <a:rPr lang="es-CR" sz="1400" dirty="0" err="1">
                <a:solidFill>
                  <a:srgbClr val="032D59"/>
                </a:solidFill>
                <a:latin typeface="Garet" panose="020B0604020202020204"/>
              </a:rPr>
              <a:t>álisis</a:t>
            </a:r>
            <a:r>
              <a:rPr lang="es-CR" sz="1400" dirty="0">
                <a:solidFill>
                  <a:srgbClr val="032D59"/>
                </a:solidFill>
                <a:latin typeface="Garet" panose="020B0604020202020204"/>
              </a:rPr>
              <a:t> de flotabilidad y estabilidad de una plataforma marina para el lanzamiento de cohetería de baja potencia,</a:t>
            </a:r>
            <a:r>
              <a:rPr lang="en-US" sz="1400" dirty="0">
                <a:solidFill>
                  <a:srgbClr val="032D59"/>
                </a:solidFill>
                <a:latin typeface="Garet" panose="020B0604020202020204"/>
              </a:rPr>
              <a:t>”</a:t>
            </a:r>
            <a:r>
              <a:rPr lang="en-US" sz="1400" dirty="0" err="1">
                <a:solidFill>
                  <a:srgbClr val="032D59"/>
                </a:solidFill>
                <a:latin typeface="Garet" panose="020B0604020202020204"/>
              </a:rPr>
              <a:t>TECSpace</a:t>
            </a:r>
            <a:r>
              <a:rPr lang="en-US" sz="1400" dirty="0">
                <a:solidFill>
                  <a:srgbClr val="032D59"/>
                </a:solidFill>
                <a:latin typeface="Garet" panose="020B0604020202020204"/>
              </a:rPr>
              <a:t>-ITCR, Informe t</a:t>
            </a:r>
            <a:r>
              <a:rPr lang="es-CR" sz="1400" dirty="0" err="1">
                <a:solidFill>
                  <a:srgbClr val="032D59"/>
                </a:solidFill>
                <a:latin typeface="Garet" panose="020B0604020202020204"/>
              </a:rPr>
              <a:t>écnico</a:t>
            </a:r>
            <a:r>
              <a:rPr lang="es-CR" sz="1400" dirty="0">
                <a:solidFill>
                  <a:srgbClr val="032D59"/>
                </a:solidFill>
                <a:latin typeface="Garet" panose="020B0604020202020204"/>
              </a:rPr>
              <a:t>, 2023.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9120" y="505339"/>
            <a:ext cx="8226757" cy="34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698"/>
              </a:lnSpc>
            </a:pPr>
            <a:r>
              <a:rPr lang="en-US" sz="3066">
                <a:solidFill>
                  <a:srgbClr val="032D59"/>
                </a:solidFill>
                <a:latin typeface="Garet Bold"/>
              </a:rPr>
              <a:t>Referencias</a:t>
            </a:r>
          </a:p>
        </p:txBody>
      </p:sp>
    </p:spTree>
    <p:extLst>
      <p:ext uri="{BB962C8B-B14F-4D97-AF65-F5344CB8AC3E}">
        <p14:creationId xmlns:p14="http://schemas.microsoft.com/office/powerpoint/2010/main" val="278591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280" y="-1574108"/>
            <a:ext cx="12309008" cy="8783430"/>
          </a:xfrm>
          <a:custGeom>
            <a:avLst/>
            <a:gdLst/>
            <a:ahLst/>
            <a:cxnLst/>
            <a:rect l="l" t="t" r="r" b="b"/>
            <a:pathLst>
              <a:path w="18730371" h="18769474">
                <a:moveTo>
                  <a:pt x="0" y="0"/>
                </a:moveTo>
                <a:lnTo>
                  <a:pt x="18730371" y="0"/>
                </a:lnTo>
                <a:lnTo>
                  <a:pt x="18730371" y="18769474"/>
                </a:lnTo>
                <a:lnTo>
                  <a:pt x="0" y="18769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83" t="-3159" r="-11881" b="-54663"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17422" y="633744"/>
            <a:ext cx="4704025" cy="608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3992"/>
              </a:lnSpc>
            </a:pPr>
            <a:r>
              <a:rPr lang="en-US" sz="7667">
                <a:solidFill>
                  <a:srgbClr val="FFFFFF"/>
                </a:solidFill>
                <a:latin typeface="Garet Bold"/>
              </a:rPr>
              <a:t>¡Gracias!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706638E-E006-95AC-DE00-3C32F124AE5F}"/>
              </a:ext>
            </a:extLst>
          </p:cNvPr>
          <p:cNvGrpSpPr/>
          <p:nvPr/>
        </p:nvGrpSpPr>
        <p:grpSpPr>
          <a:xfrm>
            <a:off x="65098" y="6016608"/>
            <a:ext cx="5056101" cy="380939"/>
            <a:chOff x="8453278" y="9762568"/>
            <a:chExt cx="7584152" cy="571410"/>
          </a:xfrm>
        </p:grpSpPr>
        <p:sp>
          <p:nvSpPr>
            <p:cNvPr id="8" name="TextBox 8"/>
            <p:cNvSpPr txBox="1"/>
            <p:nvPr/>
          </p:nvSpPr>
          <p:spPr>
            <a:xfrm>
              <a:off x="8453278" y="10056595"/>
              <a:ext cx="3579269" cy="2773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defTabSz="609630">
                <a:lnSpc>
                  <a:spcPts val="1511"/>
                </a:lnSpc>
              </a:pPr>
              <a:endParaRPr lang="en-US" sz="1200" dirty="0">
                <a:solidFill>
                  <a:srgbClr val="000000"/>
                </a:solidFill>
                <a:latin typeface="Garet Bold"/>
              </a:endParaRPr>
            </a:p>
          </p:txBody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A2BCF675-7369-A578-8BC9-8FCB1BA8B5AF}"/>
                </a:ext>
              </a:extLst>
            </p:cNvPr>
            <p:cNvSpPr txBox="1"/>
            <p:nvPr/>
          </p:nvSpPr>
          <p:spPr>
            <a:xfrm>
              <a:off x="12458162" y="9762568"/>
              <a:ext cx="3579268" cy="2705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defTabSz="609630">
                <a:lnSpc>
                  <a:spcPts val="1511"/>
                </a:lnSpc>
              </a:pPr>
              <a:endParaRPr lang="en-US" sz="1067" dirty="0">
                <a:solidFill>
                  <a:srgbClr val="000000"/>
                </a:solidFill>
                <a:latin typeface="Garet Bold"/>
              </a:endParaRPr>
            </a:p>
          </p:txBody>
        </p:sp>
      </p:grpSp>
      <p:pic>
        <p:nvPicPr>
          <p:cNvPr id="30" name="Imagen 29">
            <a:extLst>
              <a:ext uri="{FF2B5EF4-FFF2-40B4-BE49-F238E27FC236}">
                <a16:creationId xmlns:a16="http://schemas.microsoft.com/office/drawing/2014/main" id="{3FE05949-BCB4-7F5A-488B-B6334CFC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979" y="1887103"/>
            <a:ext cx="2744789" cy="2637675"/>
          </a:xfrm>
          <a:prstGeom prst="rect">
            <a:avLst/>
          </a:prstGeom>
        </p:spPr>
      </p:pic>
      <p:sp>
        <p:nvSpPr>
          <p:cNvPr id="33" name="TextBox 8">
            <a:extLst>
              <a:ext uri="{FF2B5EF4-FFF2-40B4-BE49-F238E27FC236}">
                <a16:creationId xmlns:a16="http://schemas.microsoft.com/office/drawing/2014/main" id="{B087556C-29BD-360D-3873-4C7A12C2D57E}"/>
              </a:ext>
            </a:extLst>
          </p:cNvPr>
          <p:cNvSpPr txBox="1"/>
          <p:nvPr/>
        </p:nvSpPr>
        <p:spPr>
          <a:xfrm>
            <a:off x="1899284" y="4653302"/>
            <a:ext cx="2386179" cy="207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1511"/>
              </a:lnSpc>
            </a:pPr>
            <a:r>
              <a:rPr lang="en-US" sz="1867" b="1" dirty="0" err="1">
                <a:solidFill>
                  <a:prstClr val="white"/>
                </a:solidFill>
                <a:highlight>
                  <a:srgbClr val="000000"/>
                </a:highlight>
                <a:latin typeface="Garet Bold"/>
              </a:rPr>
              <a:t>Instragram</a:t>
            </a:r>
            <a:r>
              <a:rPr lang="en-US" sz="1867" b="1" dirty="0">
                <a:solidFill>
                  <a:prstClr val="white"/>
                </a:solidFill>
                <a:highlight>
                  <a:srgbClr val="000000"/>
                </a:highlight>
                <a:latin typeface="Garet Bold"/>
              </a:rPr>
              <a:t> </a:t>
            </a:r>
            <a:r>
              <a:rPr lang="en-US" sz="1867" b="1" dirty="0" err="1">
                <a:solidFill>
                  <a:prstClr val="white"/>
                </a:solidFill>
                <a:highlight>
                  <a:srgbClr val="000000"/>
                </a:highlight>
                <a:latin typeface="Garet Bold"/>
              </a:rPr>
              <a:t>TECSpace</a:t>
            </a:r>
            <a:endParaRPr lang="en-US" sz="1867" b="1" dirty="0">
              <a:solidFill>
                <a:prstClr val="white"/>
              </a:solidFill>
              <a:highlight>
                <a:srgbClr val="000000"/>
              </a:highlight>
              <a:latin typeface="Garet Bold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9BC40A26-4727-4A79-A4ED-8F4C2991DB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733" y="1836829"/>
            <a:ext cx="2687949" cy="2687949"/>
          </a:xfrm>
          <a:prstGeom prst="rect">
            <a:avLst/>
          </a:prstGeom>
        </p:spPr>
      </p:pic>
      <p:sp>
        <p:nvSpPr>
          <p:cNvPr id="31" name="TextBox 8">
            <a:extLst>
              <a:ext uri="{FF2B5EF4-FFF2-40B4-BE49-F238E27FC236}">
                <a16:creationId xmlns:a16="http://schemas.microsoft.com/office/drawing/2014/main" id="{CD55C8A3-1800-4CF6-9D72-4FA9CB430F6C}"/>
              </a:ext>
            </a:extLst>
          </p:cNvPr>
          <p:cNvSpPr txBox="1"/>
          <p:nvPr/>
        </p:nvSpPr>
        <p:spPr>
          <a:xfrm>
            <a:off x="7783503" y="4653302"/>
            <a:ext cx="2386179" cy="399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1511"/>
              </a:lnSpc>
            </a:pPr>
            <a:r>
              <a:rPr lang="en-US" sz="1867" b="1" dirty="0" err="1">
                <a:solidFill>
                  <a:prstClr val="white"/>
                </a:solidFill>
                <a:highlight>
                  <a:srgbClr val="000000"/>
                </a:highlight>
                <a:latin typeface="Garet Bold"/>
              </a:rPr>
              <a:t>Repositorio</a:t>
            </a:r>
            <a:r>
              <a:rPr lang="en-US" sz="1867" b="1" dirty="0">
                <a:solidFill>
                  <a:prstClr val="white"/>
                </a:solidFill>
                <a:highlight>
                  <a:srgbClr val="000000"/>
                </a:highlight>
                <a:latin typeface="Garet Bold"/>
              </a:rPr>
              <a:t> de</a:t>
            </a:r>
          </a:p>
          <a:p>
            <a:pPr algn="ctr" defTabSz="609630">
              <a:lnSpc>
                <a:spcPts val="1511"/>
              </a:lnSpc>
            </a:pPr>
            <a:r>
              <a:rPr lang="en-US" sz="1867" b="1" dirty="0">
                <a:solidFill>
                  <a:prstClr val="white"/>
                </a:solidFill>
                <a:highlight>
                  <a:srgbClr val="000000"/>
                </a:highlight>
                <a:latin typeface="Garet Bold"/>
              </a:rPr>
              <a:t>GitHub</a:t>
            </a:r>
          </a:p>
        </p:txBody>
      </p:sp>
      <p:sp>
        <p:nvSpPr>
          <p:cNvPr id="29" name="Freeform 9">
            <a:extLst>
              <a:ext uri="{FF2B5EF4-FFF2-40B4-BE49-F238E27FC236}">
                <a16:creationId xmlns:a16="http://schemas.microsoft.com/office/drawing/2014/main" id="{025B2AF2-80BF-46B2-AB54-EF747933E550}"/>
              </a:ext>
            </a:extLst>
          </p:cNvPr>
          <p:cNvSpPr/>
          <p:nvPr/>
        </p:nvSpPr>
        <p:spPr>
          <a:xfrm>
            <a:off x="10287122" y="6482615"/>
            <a:ext cx="1597286" cy="384744"/>
          </a:xfrm>
          <a:custGeom>
            <a:avLst/>
            <a:gdLst/>
            <a:ahLst/>
            <a:cxnLst/>
            <a:rect l="l" t="t" r="r" b="b"/>
            <a:pathLst>
              <a:path w="3194571" h="769487">
                <a:moveTo>
                  <a:pt x="0" y="0"/>
                </a:moveTo>
                <a:lnTo>
                  <a:pt x="3194571" y="0"/>
                </a:lnTo>
                <a:lnTo>
                  <a:pt x="3194571" y="769487"/>
                </a:lnTo>
                <a:lnTo>
                  <a:pt x="0" y="7694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6990" b="-158165"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2" name="Group 5">
            <a:extLst>
              <a:ext uri="{FF2B5EF4-FFF2-40B4-BE49-F238E27FC236}">
                <a16:creationId xmlns:a16="http://schemas.microsoft.com/office/drawing/2014/main" id="{55589112-67EC-4D1A-B6F9-E1AA9373CDF5}"/>
              </a:ext>
            </a:extLst>
          </p:cNvPr>
          <p:cNvGrpSpPr/>
          <p:nvPr/>
        </p:nvGrpSpPr>
        <p:grpSpPr>
          <a:xfrm>
            <a:off x="-2201356" y="6482615"/>
            <a:ext cx="16048418" cy="419835"/>
            <a:chOff x="0" y="0"/>
            <a:chExt cx="32096836" cy="839669"/>
          </a:xfrm>
        </p:grpSpPr>
        <p:grpSp>
          <p:nvGrpSpPr>
            <p:cNvPr id="34" name="Group 6">
              <a:extLst>
                <a:ext uri="{FF2B5EF4-FFF2-40B4-BE49-F238E27FC236}">
                  <a16:creationId xmlns:a16="http://schemas.microsoft.com/office/drawing/2014/main" id="{56FB415D-3838-4C19-BCB6-94AB0EFB6B0D}"/>
                </a:ext>
              </a:extLst>
            </p:cNvPr>
            <p:cNvGrpSpPr/>
            <p:nvPr/>
          </p:nvGrpSpPr>
          <p:grpSpPr>
            <a:xfrm>
              <a:off x="0" y="0"/>
              <a:ext cx="32096836" cy="839669"/>
              <a:chOff x="0" y="0"/>
              <a:chExt cx="6340116" cy="165861"/>
            </a:xfrm>
          </p:grpSpPr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18913980-EEE3-4D04-A240-7CDF443AE77A}"/>
                  </a:ext>
                </a:extLst>
              </p:cNvPr>
              <p:cNvSpPr/>
              <p:nvPr/>
            </p:nvSpPr>
            <p:spPr>
              <a:xfrm>
                <a:off x="0" y="0"/>
                <a:ext cx="6340116" cy="165861"/>
              </a:xfrm>
              <a:custGeom>
                <a:avLst/>
                <a:gdLst/>
                <a:ahLst/>
                <a:cxnLst/>
                <a:rect l="l" t="t" r="r" b="b"/>
                <a:pathLst>
                  <a:path w="6340116" h="165861">
                    <a:moveTo>
                      <a:pt x="0" y="0"/>
                    </a:moveTo>
                    <a:lnTo>
                      <a:pt x="6340116" y="0"/>
                    </a:lnTo>
                    <a:lnTo>
                      <a:pt x="6340116" y="165861"/>
                    </a:lnTo>
                    <a:lnTo>
                      <a:pt x="0" y="1658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7" name="TextBox 8">
                <a:extLst>
                  <a:ext uri="{FF2B5EF4-FFF2-40B4-BE49-F238E27FC236}">
                    <a16:creationId xmlns:a16="http://schemas.microsoft.com/office/drawing/2014/main" id="{039BEDC8-91CD-4D61-8B3B-25FB604B38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5B741AFA-962D-44B4-B3B1-092A9D4A565D}"/>
                </a:ext>
              </a:extLst>
            </p:cNvPr>
            <p:cNvSpPr/>
            <p:nvPr/>
          </p:nvSpPr>
          <p:spPr>
            <a:xfrm>
              <a:off x="24976955" y="0"/>
              <a:ext cx="3194571" cy="769487"/>
            </a:xfrm>
            <a:custGeom>
              <a:avLst/>
              <a:gdLst/>
              <a:ahLst/>
              <a:cxnLst/>
              <a:rect l="l" t="t" r="r" b="b"/>
              <a:pathLst>
                <a:path w="3194571" h="769487">
                  <a:moveTo>
                    <a:pt x="0" y="0"/>
                  </a:moveTo>
                  <a:lnTo>
                    <a:pt x="3194571" y="0"/>
                  </a:lnTo>
                  <a:lnTo>
                    <a:pt x="3194571" y="769487"/>
                  </a:lnTo>
                  <a:lnTo>
                    <a:pt x="0" y="7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56990" b="-158165"/>
              </a:stretch>
            </a:blip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445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2265</TotalTime>
  <Words>643</Words>
  <Application>Microsoft Office PowerPoint</Application>
  <PresentationFormat>Panorámica</PresentationFormat>
  <Paragraphs>100</Paragraphs>
  <Slides>21</Slides>
  <Notes>15</Notes>
  <HiddenSlides>0</HiddenSlides>
  <MMClips>4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21</vt:i4>
      </vt:variant>
    </vt:vector>
  </HeadingPairs>
  <TitlesOfParts>
    <vt:vector size="31" baseType="lpstr">
      <vt:lpstr>Amiko Bold</vt:lpstr>
      <vt:lpstr>Aptos</vt:lpstr>
      <vt:lpstr>Arial</vt:lpstr>
      <vt:lpstr>Calibri</vt:lpstr>
      <vt:lpstr>Calibri Light</vt:lpstr>
      <vt:lpstr>Garet</vt:lpstr>
      <vt:lpstr>Garet Bold</vt:lpstr>
      <vt:lpstr>Tema de Office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AARON DAVID SALAS ALVARADO</dc:creator>
  <cp:lastModifiedBy>AARON DAVID SALAS ALVARADO</cp:lastModifiedBy>
  <cp:revision>83</cp:revision>
  <dcterms:created xsi:type="dcterms:W3CDTF">2026-08-16T21:11:15Z</dcterms:created>
  <dcterms:modified xsi:type="dcterms:W3CDTF">2026-09-17T22:27:31Z</dcterms:modified>
</cp:coreProperties>
</file>